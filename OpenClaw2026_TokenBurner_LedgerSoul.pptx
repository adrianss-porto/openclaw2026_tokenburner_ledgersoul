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64592" cy="164592"/>
          </a:xfrm>
          <a:prstGeom prst="rect">
            <a:avLst/>
          </a:prstGeom>
          <a:solidFill>
            <a:srgbClr val="4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4DE6F0"/>
                </a:solidFill>
                <a:latin typeface="JetBrains Mono"/>
              </a:rPr>
              <a:t>01  · 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E8ECF6"/>
                </a:solidFill>
                <a:latin typeface="Inter"/>
              </a:rPr>
              <a:t>Indonesian merchants on DOKU
are drowning in payment ops.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9AA6C2"/>
                </a:solidFill>
                <a:latin typeface="Inter"/>
              </a:rPr>
              <a:t>Every failed payment, refund, and suspicious charge becomes a manual firefight across dashboards, Slack, and inboxes.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9AA6C2"/>
                </a:solidFill>
                <a:latin typeface="JetBrains Mono"/>
              </a:rPr>
              <a:t>OPENCLAW 2026  ·  TEAM TOKENBURNER  ·  LEDGERSOUL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>
                <a:solidFill>
                  <a:srgbClr val="9AA6C2"/>
                </a:solidFill>
                <a:latin typeface="JetBrains Mono"/>
              </a:rPr>
              <a:t>01 / 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286000"/>
            <a:ext cx="11064240" cy="411480"/>
          </a:xfrm>
          <a:prstGeom prst="roundRect">
            <a:avLst>
              <a:gd name="adj" fmla="val 10000"/>
            </a:avLst>
          </a:prstGeom>
          <a:solidFill>
            <a:srgbClr val="182440"/>
          </a:solidFill>
          <a:ln w="9525">
            <a:solidFill>
              <a:srgbClr val="22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286000"/>
            <a:ext cx="104241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4DE6F0"/>
                </a:solidFill>
                <a:latin typeface="JetBrains Mono"/>
              </a:rPr>
              <a:t>TEAM TOKENBURNER  ·  PROJECT LEDGERSOUL  ·  TRACK  BEST PAYMENT USE CASE  ·  AGENTHON 2026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926080"/>
            <a:ext cx="2697480" cy="1554480"/>
          </a:xfrm>
          <a:prstGeom prst="roundRect">
            <a:avLst>
              <a:gd name="adj" fmla="val 10000"/>
            </a:avLst>
          </a:prstGeom>
          <a:solidFill>
            <a:srgbClr val="182440"/>
          </a:solidFill>
          <a:ln w="9525">
            <a:solidFill>
              <a:srgbClr val="22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926080"/>
            <a:ext cx="91440" cy="1554480"/>
          </a:xfrm>
          <a:prstGeom prst="rect">
            <a:avLst/>
          </a:prstGeom>
          <a:solidFill>
            <a:srgbClr val="FF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3108960"/>
            <a:ext cx="22402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8A8A"/>
                </a:solidFill>
                <a:latin typeface="JetBrains Mono"/>
              </a:rPr>
              <a:t>FAILED PAYMENTS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3493008"/>
            <a:ext cx="2240280" cy="8229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E8ECF6"/>
                </a:solidFill>
                <a:latin typeface="Inter"/>
              </a:rPr>
              <a:t>Drop silently. Recovery happens hours late, if at all.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37560" y="2926080"/>
            <a:ext cx="2697480" cy="1554480"/>
          </a:xfrm>
          <a:prstGeom prst="roundRect">
            <a:avLst>
              <a:gd name="adj" fmla="val 10000"/>
            </a:avLst>
          </a:prstGeom>
          <a:solidFill>
            <a:srgbClr val="182440"/>
          </a:solidFill>
          <a:ln w="9525">
            <a:solidFill>
              <a:srgbClr val="22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37560" y="2926080"/>
            <a:ext cx="91440" cy="1554480"/>
          </a:xfrm>
          <a:prstGeom prst="rect">
            <a:avLst/>
          </a:prstGeom>
          <a:solidFill>
            <a:srgbClr val="FFC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1880" y="3108960"/>
            <a:ext cx="22402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C86B"/>
                </a:solidFill>
                <a:latin typeface="JetBrains Mono"/>
              </a:rPr>
              <a:t>SUSPICIOUS CHARGES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3493008"/>
            <a:ext cx="2240280" cy="8229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E8ECF6"/>
                </a:solidFill>
                <a:latin typeface="Inter"/>
              </a:rPr>
              <a:t>Pile up in inboxes with no consistent triage path.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2926080"/>
            <a:ext cx="2697480" cy="1554480"/>
          </a:xfrm>
          <a:prstGeom prst="roundRect">
            <a:avLst>
              <a:gd name="adj" fmla="val 10000"/>
            </a:avLst>
          </a:prstGeom>
          <a:solidFill>
            <a:srgbClr val="182440"/>
          </a:solidFill>
          <a:ln w="9525">
            <a:solidFill>
              <a:srgbClr val="22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26480" y="2926080"/>
            <a:ext cx="91440" cy="1554480"/>
          </a:xfrm>
          <a:prstGeom prst="rect">
            <a:avLst/>
          </a:prstGeom>
          <a:solidFill>
            <a:srgbClr val="A9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3108960"/>
            <a:ext cx="22402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A97CFF"/>
                </a:solidFill>
                <a:latin typeface="JetBrains Mono"/>
              </a:rPr>
              <a:t>REFUND REQUESTS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493008"/>
            <a:ext cx="2240280" cy="8229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E8ECF6"/>
                </a:solidFill>
                <a:latin typeface="Inter"/>
              </a:rPr>
              <a:t>Get approved on gut feel, with no audit trail.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15400" y="2926080"/>
            <a:ext cx="2697480" cy="1554480"/>
          </a:xfrm>
          <a:prstGeom prst="roundRect">
            <a:avLst>
              <a:gd name="adj" fmla="val 10000"/>
            </a:avLst>
          </a:prstGeom>
          <a:solidFill>
            <a:srgbClr val="182440"/>
          </a:solidFill>
          <a:ln w="9525">
            <a:solidFill>
              <a:srgbClr val="22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15400" y="2926080"/>
            <a:ext cx="91440" cy="1554480"/>
          </a:xfrm>
          <a:prstGeom prst="rect">
            <a:avLst/>
          </a:prstGeom>
          <a:solidFill>
            <a:srgbClr val="4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89720" y="3108960"/>
            <a:ext cx="22402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4DE6F0"/>
                </a:solidFill>
                <a:latin typeface="JetBrains Mono"/>
              </a:rPr>
              <a:t>DUPLICATE WEBHOOKS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20" y="3493008"/>
            <a:ext cx="2240280" cy="8229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E8ECF6"/>
                </a:solidFill>
                <a:latin typeface="Inter"/>
              </a:rPr>
              <a:t>Re-trigger actions and corrupt reconciliation.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709160"/>
            <a:ext cx="2697480" cy="868680"/>
          </a:xfrm>
          <a:prstGeom prst="roundRect">
            <a:avLst>
              <a:gd name="adj" fmla="val 10000"/>
            </a:avLst>
          </a:prstGeom>
          <a:solidFill>
            <a:srgbClr val="0D1428"/>
          </a:solidFill>
          <a:ln w="9525">
            <a:solidFill>
              <a:srgbClr val="22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480060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 i="0">
                <a:solidFill>
                  <a:srgbClr val="4DE6F0"/>
                </a:solidFill>
                <a:latin typeface="Inter"/>
              </a:rPr>
              <a:t>24/7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257800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9AA6C2"/>
                </a:solidFill>
                <a:latin typeface="JetBrains Mono"/>
              </a:rPr>
              <a:t>ops loop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37560" y="4709160"/>
            <a:ext cx="2697480" cy="868680"/>
          </a:xfrm>
          <a:prstGeom prst="roundRect">
            <a:avLst>
              <a:gd name="adj" fmla="val 10000"/>
            </a:avLst>
          </a:prstGeom>
          <a:solidFill>
            <a:srgbClr val="0D1428"/>
          </a:solidFill>
          <a:ln w="9525">
            <a:solidFill>
              <a:srgbClr val="22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37560" y="480060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 i="0">
                <a:solidFill>
                  <a:srgbClr val="4DE6F0"/>
                </a:solidFill>
                <a:latin typeface="Inter"/>
              </a:rPr>
              <a:t>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37560" y="5257800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9AA6C2"/>
                </a:solidFill>
                <a:latin typeface="JetBrains Mono"/>
              </a:rPr>
              <a:t>audit trail today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26480" y="4709160"/>
            <a:ext cx="2697480" cy="868680"/>
          </a:xfrm>
          <a:prstGeom prst="roundRect">
            <a:avLst>
              <a:gd name="adj" fmla="val 10000"/>
            </a:avLst>
          </a:prstGeom>
          <a:solidFill>
            <a:srgbClr val="0D1428"/>
          </a:solidFill>
          <a:ln w="9525">
            <a:solidFill>
              <a:srgbClr val="22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26480" y="480060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 i="0">
                <a:solidFill>
                  <a:srgbClr val="4DE6F0"/>
                </a:solidFill>
                <a:latin typeface="Inter"/>
              </a:rPr>
              <a:t>hours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6480" y="5257800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9AA6C2"/>
                </a:solidFill>
                <a:latin typeface="JetBrains Mono"/>
              </a:rPr>
              <a:t>recovery delay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15400" y="4709160"/>
            <a:ext cx="2697480" cy="868680"/>
          </a:xfrm>
          <a:prstGeom prst="roundRect">
            <a:avLst>
              <a:gd name="adj" fmla="val 10000"/>
            </a:avLst>
          </a:prstGeom>
          <a:solidFill>
            <a:srgbClr val="0D1428"/>
          </a:solidFill>
          <a:ln w="9525">
            <a:solidFill>
              <a:srgbClr val="22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15400" y="480060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 i="0">
                <a:solidFill>
                  <a:srgbClr val="4DE6F0"/>
                </a:solidFill>
                <a:latin typeface="Inter"/>
              </a:rPr>
              <a:t>3 humans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15400" y="5257800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9AA6C2"/>
                </a:solidFill>
                <a:latin typeface="JetBrains Mono"/>
              </a:rPr>
              <a:t>= 3 different decisions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5760720"/>
            <a:ext cx="11064240" cy="502920"/>
          </a:xfrm>
          <a:prstGeom prst="roundRect">
            <a:avLst>
              <a:gd name="adj" fmla="val 10000"/>
            </a:avLst>
          </a:prstGeom>
          <a:solidFill>
            <a:srgbClr val="182440"/>
          </a:solidFill>
          <a:ln w="9525">
            <a:solidFill>
              <a:srgbClr val="22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8680" y="5760720"/>
            <a:ext cx="104241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69E6A3"/>
                </a:solidFill>
                <a:latin typeface="Inter"/>
              </a:rPr>
              <a:t>Payment ops in Indonesia is a 24/7 firefight. Merchants need an autonomous operator, not another dashboard.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64592" cy="164592"/>
          </a:xfrm>
          <a:prstGeom prst="rect">
            <a:avLst/>
          </a:prstGeom>
          <a:solidFill>
            <a:srgbClr val="4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4DE6F0"/>
                </a:solidFill>
                <a:latin typeface="JetBrains Mono"/>
              </a:rPr>
              <a:t>02  · 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E8ECF6"/>
                </a:solidFill>
                <a:latin typeface="Inter"/>
              </a:rPr>
              <a:t>LedgerSoul — an autonomous
payment-ops agent on DOKU MCP.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9AA6C2"/>
                </a:solidFill>
                <a:latin typeface="Inter"/>
              </a:rPr>
              <a:t>A multi-agent system that observes events, reasons about them, calls DOKU tools, verifies results, and writes an immutable audit trail.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9AA6C2"/>
                </a:solidFill>
                <a:latin typeface="JetBrains Mono"/>
              </a:rPr>
              <a:t>OPENCLAW 2026  ·  TEAM TOKENBURNER  ·  LEDGERSOUL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>
                <a:solidFill>
                  <a:srgbClr val="9AA6C2"/>
                </a:solidFill>
                <a:latin typeface="JetBrains Mono"/>
              </a:rPr>
              <a:t>02 / 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31720"/>
            <a:ext cx="3611880" cy="1417320"/>
          </a:xfrm>
          <a:prstGeom prst="roundRect">
            <a:avLst>
              <a:gd name="adj" fmla="val 10000"/>
            </a:avLst>
          </a:prstGeom>
          <a:solidFill>
            <a:srgbClr val="182440"/>
          </a:solidFill>
          <a:ln w="9525">
            <a:solidFill>
              <a:srgbClr val="22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331720"/>
            <a:ext cx="91440" cy="1417320"/>
          </a:xfrm>
          <a:prstGeom prst="rect">
            <a:avLst/>
          </a:prstGeom>
          <a:solidFill>
            <a:srgbClr val="FF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496312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F8A8A"/>
                </a:solidFill>
                <a:latin typeface="JetBrains Mono"/>
              </a:rPr>
              <a:t>LAYER 1  ·  PAYMENT RAIL &amp; FRAUD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788920"/>
            <a:ext cx="3246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8ECF6"/>
                </a:solidFill>
                <a:latin typeface="Inter"/>
              </a:rPr>
              <a:t>Owned by banks · networks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154679"/>
            <a:ext cx="3246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AA6C2"/>
                </a:solidFill>
                <a:latin typeface="Inter"/>
              </a:rPr>
              <a:t>3DS · Visa Risk · Mastercard DI · AML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79392" y="2331720"/>
            <a:ext cx="3611880" cy="1417320"/>
          </a:xfrm>
          <a:prstGeom prst="roundRect">
            <a:avLst>
              <a:gd name="adj" fmla="val 10000"/>
            </a:avLst>
          </a:prstGeom>
          <a:solidFill>
            <a:srgbClr val="182440"/>
          </a:solidFill>
          <a:ln w="9525">
            <a:solidFill>
              <a:srgbClr val="22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79392" y="2331720"/>
            <a:ext cx="91440" cy="1417320"/>
          </a:xfrm>
          <a:prstGeom prst="rect">
            <a:avLst/>
          </a:prstGeom>
          <a:solidFill>
            <a:srgbClr val="A9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07992" y="2496312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A97CFF"/>
                </a:solidFill>
                <a:latin typeface="JetBrains Mono"/>
              </a:rPr>
              <a:t>LAYER 2  ·  PAYMENT PLATFORM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7992" y="2788920"/>
            <a:ext cx="3246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8ECF6"/>
                </a:solidFill>
                <a:latin typeface="Inter"/>
              </a:rPr>
              <a:t>Owned by DOKU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7992" y="3154679"/>
            <a:ext cx="3246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AA6C2"/>
                </a:solidFill>
                <a:latin typeface="Inter"/>
              </a:rPr>
              <a:t>Checkout · QRIS · VA · MCP Server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10144" y="2331720"/>
            <a:ext cx="3611880" cy="1417320"/>
          </a:xfrm>
          <a:prstGeom prst="roundRect">
            <a:avLst>
              <a:gd name="adj" fmla="val 10000"/>
            </a:avLst>
          </a:prstGeom>
          <a:solidFill>
            <a:srgbClr val="182440"/>
          </a:solidFill>
          <a:ln w="9525">
            <a:solidFill>
              <a:srgbClr val="22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0144" y="2331720"/>
            <a:ext cx="91440" cy="1417320"/>
          </a:xfrm>
          <a:prstGeom prst="rect">
            <a:avLst/>
          </a:prstGeom>
          <a:solidFill>
            <a:srgbClr val="4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2496312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4DE6F0"/>
                </a:solidFill>
                <a:latin typeface="JetBrains Mono"/>
              </a:rPr>
              <a:t>LAYER 3  ·  PAYMENT OPS  (US)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2788920"/>
            <a:ext cx="3246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8ECF6"/>
                </a:solidFill>
                <a:latin typeface="Inter"/>
              </a:rPr>
              <a:t>Owned by LedgerSoul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3154679"/>
            <a:ext cx="3246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AA6C2"/>
                </a:solidFill>
                <a:latin typeface="Inter"/>
              </a:rPr>
              <a:t>Recovery · triage · refunds · audit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93192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4DE6F0"/>
                </a:solidFill>
                <a:latin typeface="JetBrains Mono"/>
              </a:rPr>
              <a:t>WHY NOT THE DOKU DASHBOARD OR ZAPIER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251960"/>
            <a:ext cx="3611880" cy="960120"/>
          </a:xfrm>
          <a:prstGeom prst="roundRect">
            <a:avLst>
              <a:gd name="adj" fmla="val 10000"/>
            </a:avLst>
          </a:prstGeom>
          <a:solidFill>
            <a:srgbClr val="0D1428"/>
          </a:solidFill>
          <a:ln w="9525">
            <a:solidFill>
              <a:srgbClr val="22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4389120"/>
            <a:ext cx="3246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9AA6C2"/>
                </a:solidFill>
                <a:latin typeface="JetBrains Mono"/>
              </a:rPr>
              <a:t>DOKU DASHBOARD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663440"/>
            <a:ext cx="3246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9AA6C2"/>
                </a:solidFill>
                <a:latin typeface="Inter"/>
              </a:rPr>
              <a:t>Manual clicks. Human judgement. No 24/7 loop.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79392" y="4251960"/>
            <a:ext cx="3611880" cy="960120"/>
          </a:xfrm>
          <a:prstGeom prst="roundRect">
            <a:avLst>
              <a:gd name="adj" fmla="val 10000"/>
            </a:avLst>
          </a:prstGeom>
          <a:solidFill>
            <a:srgbClr val="0D1428"/>
          </a:solidFill>
          <a:ln w="9525">
            <a:solidFill>
              <a:srgbClr val="22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07992" y="4389120"/>
            <a:ext cx="3246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9AA6C2"/>
                </a:solidFill>
                <a:latin typeface="JetBrains Mono"/>
              </a:rPr>
              <a:t>ZAPIER / N8N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07992" y="4663440"/>
            <a:ext cx="3246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9AA6C2"/>
                </a:solidFill>
                <a:latin typeface="Inter"/>
              </a:rPr>
              <a:t>If/then glue. No verification. No audit trace.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10144" y="4251960"/>
            <a:ext cx="3611880" cy="960120"/>
          </a:xfrm>
          <a:prstGeom prst="roundRect">
            <a:avLst>
              <a:gd name="adj" fmla="val 10000"/>
            </a:avLst>
          </a:prstGeom>
          <a:solidFill>
            <a:srgbClr val="0D1428"/>
          </a:solidFill>
          <a:ln w="12700">
            <a:solidFill>
              <a:srgbClr val="4D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38744" y="4389120"/>
            <a:ext cx="3246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4DE6F0"/>
                </a:solidFill>
                <a:latin typeface="JetBrains Mono"/>
              </a:rPr>
              <a:t>LEDGERSOUL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38744" y="4663440"/>
            <a:ext cx="3246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8ECF6"/>
                </a:solidFill>
                <a:latin typeface="Inter"/>
              </a:rPr>
              <a:t>Reasoning + tools + verification + audit, every run.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5532120"/>
            <a:ext cx="11064240" cy="777240"/>
          </a:xfrm>
          <a:prstGeom prst="roundRect">
            <a:avLst>
              <a:gd name="adj" fmla="val 10000"/>
            </a:avLst>
          </a:prstGeom>
          <a:solidFill>
            <a:srgbClr val="182440"/>
          </a:solidFill>
          <a:ln w="9525">
            <a:solidFill>
              <a:srgbClr val="22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" y="5623559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4DE6F0"/>
                </a:solidFill>
                <a:latin typeface="JetBrains Mono"/>
              </a:rPr>
              <a:t>EVERY RUN ENDS IN ONE OF SIX STATES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" y="589788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69E6A3"/>
                </a:solidFill>
                <a:latin typeface="Inter"/>
              </a:rPr>
              <a:t>completed  ·  escalated  ·  duplicate  ·  blocked  ·  failed_verification  ·  error      always with a JSON trace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64592" cy="164592"/>
          </a:xfrm>
          <a:prstGeom prst="rect">
            <a:avLst/>
          </a:prstGeom>
          <a:solidFill>
            <a:srgbClr val="4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4DE6F0"/>
                </a:solidFill>
                <a:latin typeface="JetBrains Mono"/>
              </a:rPr>
              <a:t>03  · 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E8ECF6"/>
                </a:solidFill>
                <a:latin typeface="Inter"/>
              </a:rPr>
              <a:t>Four agents. One deterministic loop.
Real DOKU MCP tools.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9AA6C2"/>
                </a:solidFill>
                <a:latin typeface="Inter"/>
              </a:rPr>
              <a:t>Multi-agent reasoning meets a deterministic verification spine — autonomy with proof.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9AA6C2"/>
                </a:solidFill>
                <a:latin typeface="JetBrains Mono"/>
              </a:rPr>
              <a:t>OPENCLAW 2026  ·  TEAM TOKENBURNER  ·  LEDGERSOUL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>
                <a:solidFill>
                  <a:srgbClr val="9AA6C2"/>
                </a:solidFill>
                <a:latin typeface="JetBrains Mono"/>
              </a:rPr>
              <a:t>03 / 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31720"/>
            <a:ext cx="2606040" cy="1417320"/>
          </a:xfrm>
          <a:prstGeom prst="roundRect">
            <a:avLst>
              <a:gd name="adj" fmla="val 10000"/>
            </a:avLst>
          </a:prstGeom>
          <a:solidFill>
            <a:srgbClr val="182440"/>
          </a:solidFill>
          <a:ln w="12700">
            <a:solidFill>
              <a:srgbClr val="A9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2496312"/>
            <a:ext cx="868680" cy="256032"/>
          </a:xfrm>
          <a:prstGeom prst="roundRect">
            <a:avLst>
              <a:gd name="adj" fmla="val 10000"/>
            </a:avLst>
          </a:prstGeom>
          <a:solidFill>
            <a:srgbClr val="070B14"/>
          </a:solidFill>
          <a:ln w="9525">
            <a:solidFill>
              <a:srgbClr val="A9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496312"/>
            <a:ext cx="8686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A97CFF"/>
                </a:solidFill>
                <a:latin typeface="JetBrains Mono"/>
              </a:rPr>
              <a:t>LLM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834639"/>
            <a:ext cx="22402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E8ECF6"/>
                </a:solidFill>
                <a:latin typeface="Inter"/>
              </a:rPr>
              <a:t>REASONING
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410711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AA6C2"/>
                </a:solidFill>
                <a:latin typeface="JetBrains Mono"/>
              </a:rPr>
              <a:t>classify · extract intent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72968" y="2834639"/>
            <a:ext cx="128015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9AA6C2"/>
                </a:solidFill>
                <a:latin typeface="Inter"/>
              </a:rPr>
              <a:t>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19272" y="2331720"/>
            <a:ext cx="2606040" cy="1417320"/>
          </a:xfrm>
          <a:prstGeom prst="roundRect">
            <a:avLst>
              <a:gd name="adj" fmla="val 10000"/>
            </a:avLst>
          </a:prstGeom>
          <a:solidFill>
            <a:srgbClr val="182440"/>
          </a:solidFill>
          <a:ln w="12700">
            <a:solidFill>
              <a:srgbClr val="4D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547872" y="2496312"/>
            <a:ext cx="868680" cy="256032"/>
          </a:xfrm>
          <a:prstGeom prst="roundRect">
            <a:avLst>
              <a:gd name="adj" fmla="val 10000"/>
            </a:avLst>
          </a:prstGeom>
          <a:solidFill>
            <a:srgbClr val="070B14"/>
          </a:solidFill>
          <a:ln w="9525">
            <a:solidFill>
              <a:srgbClr val="4D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47872" y="2496312"/>
            <a:ext cx="8686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4DE6F0"/>
                </a:solidFill>
                <a:latin typeface="JetBrains Mono"/>
              </a:rPr>
              <a:t>RULES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47872" y="2834639"/>
            <a:ext cx="22402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E8ECF6"/>
                </a:solidFill>
                <a:latin typeface="Inter"/>
              </a:rPr>
              <a:t>PLANNER
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47872" y="3410711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AA6C2"/>
                </a:solidFill>
                <a:latin typeface="JetBrains Mono"/>
              </a:rPr>
              <a:t>deterministic plan + policy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2834639"/>
            <a:ext cx="128015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9AA6C2"/>
                </a:solidFill>
                <a:latin typeface="Inter"/>
              </a:rPr>
              <a:t>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9904" y="2331720"/>
            <a:ext cx="2606040" cy="1417320"/>
          </a:xfrm>
          <a:prstGeom prst="roundRect">
            <a:avLst>
              <a:gd name="adj" fmla="val 10000"/>
            </a:avLst>
          </a:prstGeom>
          <a:solidFill>
            <a:srgbClr val="182440"/>
          </a:solidFill>
          <a:ln w="12700">
            <a:solidFill>
              <a:srgbClr val="FFC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318504" y="2496312"/>
            <a:ext cx="868680" cy="256032"/>
          </a:xfrm>
          <a:prstGeom prst="roundRect">
            <a:avLst>
              <a:gd name="adj" fmla="val 10000"/>
            </a:avLst>
          </a:prstGeom>
          <a:solidFill>
            <a:srgbClr val="070B14"/>
          </a:solidFill>
          <a:ln w="9525">
            <a:solidFill>
              <a:srgbClr val="FFC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18504" y="2496312"/>
            <a:ext cx="8686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FFC86B"/>
                </a:solidFill>
                <a:latin typeface="JetBrains Mono"/>
              </a:rPr>
              <a:t>TOOLS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18504" y="2834639"/>
            <a:ext cx="22402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E8ECF6"/>
                </a:solidFill>
                <a:latin typeface="Inter"/>
              </a:rPr>
              <a:t>EXECUTOR
AGENT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18504" y="3410711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AA6C2"/>
                </a:solidFill>
                <a:latin typeface="JetBrains Mono"/>
              </a:rPr>
              <a:t>TOOL_REGISTRY · DOKU MCP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14232" y="2834639"/>
            <a:ext cx="128015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9AA6C2"/>
                </a:solidFill>
                <a:latin typeface="Inter"/>
              </a:rPr>
              <a:t>▶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860536" y="2331720"/>
            <a:ext cx="2606040" cy="1417320"/>
          </a:xfrm>
          <a:prstGeom prst="roundRect">
            <a:avLst>
              <a:gd name="adj" fmla="val 10000"/>
            </a:avLst>
          </a:prstGeom>
          <a:solidFill>
            <a:srgbClr val="182440"/>
          </a:solidFill>
          <a:ln w="12700">
            <a:solidFill>
              <a:srgbClr val="69E6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089136" y="2496312"/>
            <a:ext cx="868680" cy="256032"/>
          </a:xfrm>
          <a:prstGeom prst="roundRect">
            <a:avLst>
              <a:gd name="adj" fmla="val 10000"/>
            </a:avLst>
          </a:prstGeom>
          <a:solidFill>
            <a:srgbClr val="070B14"/>
          </a:solidFill>
          <a:ln w="9525">
            <a:solidFill>
              <a:srgbClr val="69E6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89136" y="2496312"/>
            <a:ext cx="8686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69E6A3"/>
                </a:solidFill>
                <a:latin typeface="JetBrains Mono"/>
              </a:rPr>
              <a:t>CHECKS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89136" y="2834639"/>
            <a:ext cx="22402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E8ECF6"/>
                </a:solidFill>
                <a:latin typeface="Inter"/>
              </a:rPr>
              <a:t>VERIFIER
AGENT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89136" y="3410711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AA6C2"/>
                </a:solidFill>
                <a:latin typeface="JetBrains Mono"/>
              </a:rPr>
              <a:t>tool result + audit log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3977639"/>
            <a:ext cx="11064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4DE6F0"/>
                </a:solidFill>
                <a:latin typeface="JetBrains Mono"/>
              </a:rPr>
              <a:t>REGISTERED TOOLS  ·  EVERY CALL GOES THROUGH TOOL_REGISTRY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4297680"/>
            <a:ext cx="2729484" cy="365760"/>
          </a:xfrm>
          <a:prstGeom prst="roundRect">
            <a:avLst>
              <a:gd name="adj" fmla="val 10000"/>
            </a:avLst>
          </a:prstGeom>
          <a:solidFill>
            <a:srgbClr val="0D1428"/>
          </a:solidFill>
          <a:ln w="9525">
            <a:solidFill>
              <a:srgbClr val="22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4297680"/>
            <a:ext cx="272948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4DE6F0"/>
                </a:solidFill>
                <a:latin typeface="JetBrains Mono"/>
              </a:rPr>
              <a:t>get_transaction_by_invoice_number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369564" y="4297680"/>
            <a:ext cx="1719072" cy="365760"/>
          </a:xfrm>
          <a:prstGeom prst="roundRect">
            <a:avLst>
              <a:gd name="adj" fmla="val 10000"/>
            </a:avLst>
          </a:prstGeom>
          <a:solidFill>
            <a:srgbClr val="0D1428"/>
          </a:solidFill>
          <a:ln w="9525">
            <a:solidFill>
              <a:srgbClr val="22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69564" y="4297680"/>
            <a:ext cx="17190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4DE6F0"/>
                </a:solidFill>
                <a:latin typeface="JetBrains Mono"/>
              </a:rPr>
              <a:t>create_recovery_link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180076" y="4297680"/>
            <a:ext cx="1874520" cy="365760"/>
          </a:xfrm>
          <a:prstGeom prst="roundRect">
            <a:avLst>
              <a:gd name="adj" fmla="val 10000"/>
            </a:avLst>
          </a:prstGeom>
          <a:solidFill>
            <a:srgbClr val="0D1428"/>
          </a:solidFill>
          <a:ln w="9525">
            <a:solidFill>
              <a:srgbClr val="22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180076" y="4297680"/>
            <a:ext cx="1874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4DE6F0"/>
                </a:solidFill>
                <a:latin typeface="JetBrains Mono"/>
              </a:rPr>
              <a:t>draft_customer_message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146036" y="4297680"/>
            <a:ext cx="1952244" cy="365760"/>
          </a:xfrm>
          <a:prstGeom prst="roundRect">
            <a:avLst>
              <a:gd name="adj" fmla="val 10000"/>
            </a:avLst>
          </a:prstGeom>
          <a:solidFill>
            <a:srgbClr val="0D1428"/>
          </a:solidFill>
          <a:ln w="9525">
            <a:solidFill>
              <a:srgbClr val="22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146036" y="4297680"/>
            <a:ext cx="195224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4DE6F0"/>
                </a:solidFill>
                <a:latin typeface="JetBrains Mono"/>
              </a:rPr>
              <a:t>create_approval_request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189720" y="4297680"/>
            <a:ext cx="1641348" cy="365760"/>
          </a:xfrm>
          <a:prstGeom prst="roundRect">
            <a:avLst>
              <a:gd name="adj" fmla="val 10000"/>
            </a:avLst>
          </a:prstGeom>
          <a:solidFill>
            <a:srgbClr val="0D1428"/>
          </a:solidFill>
          <a:ln w="9525">
            <a:solidFill>
              <a:srgbClr val="22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89720" y="4297680"/>
            <a:ext cx="164134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4DE6F0"/>
                </a:solidFill>
                <a:latin typeface="JetBrains Mono"/>
              </a:rPr>
              <a:t>list_doku_mcp_tools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8640" y="4736592"/>
            <a:ext cx="1563624" cy="365760"/>
          </a:xfrm>
          <a:prstGeom prst="roundRect">
            <a:avLst>
              <a:gd name="adj" fmla="val 10000"/>
            </a:avLst>
          </a:prstGeom>
          <a:solidFill>
            <a:srgbClr val="0D1428"/>
          </a:solidFill>
          <a:ln w="9525">
            <a:solidFill>
              <a:srgbClr val="22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4736592"/>
            <a:ext cx="156362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4DE6F0"/>
                </a:solidFill>
                <a:latin typeface="JetBrains Mono"/>
              </a:rPr>
              <a:t>call_doku_mcp_tool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203704" y="4736592"/>
            <a:ext cx="1330452" cy="365760"/>
          </a:xfrm>
          <a:prstGeom prst="roundRect">
            <a:avLst>
              <a:gd name="adj" fmla="val 10000"/>
            </a:avLst>
          </a:prstGeom>
          <a:solidFill>
            <a:srgbClr val="0D1428"/>
          </a:solidFill>
          <a:ln w="9525">
            <a:solidFill>
              <a:srgbClr val="22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203704" y="4736592"/>
            <a:ext cx="133045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4DE6F0"/>
                </a:solidFill>
                <a:latin typeface="JetBrains Mono"/>
              </a:rPr>
              <a:t>write_audit_log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48640" y="5532120"/>
            <a:ext cx="11064240" cy="777240"/>
          </a:xfrm>
          <a:prstGeom prst="roundRect">
            <a:avLst>
              <a:gd name="adj" fmla="val 10000"/>
            </a:avLst>
          </a:prstGeom>
          <a:solidFill>
            <a:srgbClr val="182440"/>
          </a:solidFill>
          <a:ln w="9525">
            <a:solidFill>
              <a:srgbClr val="22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68680" y="5623559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4DE6F0"/>
                </a:solidFill>
                <a:latin typeface="JetBrains Mono"/>
              </a:rPr>
              <a:t>12-STAGE AUTONOMOUS LOOP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8680" y="589788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CF6"/>
                </a:solidFill>
                <a:latin typeface="Inter"/>
              </a:rPr>
              <a:t>boot · observe · validate · idempotency · interpret · plan · policy · act · verify · remember · reflect · stop/escalate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64592" cy="164592"/>
          </a:xfrm>
          <a:prstGeom prst="rect">
            <a:avLst/>
          </a:prstGeom>
          <a:solidFill>
            <a:srgbClr val="4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4DE6F0"/>
                </a:solidFill>
                <a:latin typeface="JetBrains Mono"/>
              </a:rPr>
              <a:t>04  ·  FEATURES &amp;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E8ECF6"/>
                </a:solidFill>
                <a:latin typeface="Inter"/>
              </a:rPr>
              <a:t>Built for autonomy, audit,
and judge-safe demoability.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9AA6C2"/>
                </a:solidFill>
                <a:latin typeface="Inter"/>
              </a:rPr>
              <a:t>Production-shape engineering inside a 12-hour build: tests, lint, judge mode, and real MCP.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9AA6C2"/>
                </a:solidFill>
                <a:latin typeface="JetBrains Mono"/>
              </a:rPr>
              <a:t>OPENCLAW 2026  ·  TEAM TOKENBURNER  ·  LEDGERSOUL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>
                <a:solidFill>
                  <a:srgbClr val="9AA6C2"/>
                </a:solidFill>
                <a:latin typeface="JetBrains Mono"/>
              </a:rPr>
              <a:t>04 / 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31720"/>
            <a:ext cx="5532120" cy="3246120"/>
          </a:xfrm>
          <a:prstGeom prst="roundRect">
            <a:avLst>
              <a:gd name="adj" fmla="val 10000"/>
            </a:avLst>
          </a:prstGeom>
          <a:solidFill>
            <a:srgbClr val="182440"/>
          </a:solidFill>
          <a:ln w="9525">
            <a:solidFill>
              <a:srgbClr val="22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496312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4DE6F0"/>
                </a:solidFill>
                <a:latin typeface="JetBrains Mono"/>
              </a:rPr>
              <a:t>KEY FEATURES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862072"/>
            <a:ext cx="73152" cy="164592"/>
          </a:xfrm>
          <a:prstGeom prst="rect">
            <a:avLst/>
          </a:prstGeom>
          <a:solidFill>
            <a:srgbClr val="4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807208"/>
            <a:ext cx="4937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8ECF6"/>
                </a:solidFill>
                <a:latin typeface="Inter"/>
              </a:rPr>
              <a:t>Multi-agent runtime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971800"/>
            <a:ext cx="4937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9AA6C2"/>
                </a:solidFill>
                <a:latin typeface="JetBrains Mono"/>
              </a:rPr>
              <a:t>Reasoning + Planner + Executor + Verifier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191256"/>
            <a:ext cx="73152" cy="164592"/>
          </a:xfrm>
          <a:prstGeom prst="rect">
            <a:avLst/>
          </a:prstGeom>
          <a:solidFill>
            <a:srgbClr val="4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3136391"/>
            <a:ext cx="4937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8ECF6"/>
                </a:solidFill>
                <a:latin typeface="Inter"/>
              </a:rPr>
              <a:t>Real DOKU MCP integration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3300984"/>
            <a:ext cx="4937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9AA6C2"/>
                </a:solidFill>
                <a:latin typeface="JetBrains Mono"/>
              </a:rPr>
              <a:t>Sandbox MCP server · 35 tools available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520439"/>
            <a:ext cx="73152" cy="164592"/>
          </a:xfrm>
          <a:prstGeom prst="rect">
            <a:avLst/>
          </a:prstGeom>
          <a:solidFill>
            <a:srgbClr val="4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3465575"/>
            <a:ext cx="4937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8ECF6"/>
                </a:solidFill>
                <a:latin typeface="Inter"/>
              </a:rPr>
              <a:t>Explicit tool registry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3630168"/>
            <a:ext cx="4937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9AA6C2"/>
                </a:solidFill>
                <a:latin typeface="JetBrains Mono"/>
              </a:rPr>
              <a:t>All tool calls auditable, never arbitrary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3849623"/>
            <a:ext cx="73152" cy="164592"/>
          </a:xfrm>
          <a:prstGeom prst="rect">
            <a:avLst/>
          </a:prstGeom>
          <a:solidFill>
            <a:srgbClr val="4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794759"/>
            <a:ext cx="4937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8ECF6"/>
                </a:solidFill>
                <a:latin typeface="Inter"/>
              </a:rPr>
              <a:t>Deterministic verification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3959351"/>
            <a:ext cx="4937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9AA6C2"/>
                </a:solidFill>
                <a:latin typeface="JetBrains Mono"/>
              </a:rPr>
              <a:t>Every result inspected · no fabrication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4178807"/>
            <a:ext cx="73152" cy="164592"/>
          </a:xfrm>
          <a:prstGeom prst="rect">
            <a:avLst/>
          </a:prstGeom>
          <a:solidFill>
            <a:srgbClr val="4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4123944"/>
            <a:ext cx="4937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8ECF6"/>
                </a:solidFill>
                <a:latin typeface="Inter"/>
              </a:rPr>
              <a:t>Idempotency &amp; policy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4288536"/>
            <a:ext cx="4937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9AA6C2"/>
                </a:solidFill>
                <a:latin typeface="JetBrains Mono"/>
              </a:rPr>
              <a:t>Duplicate webhooks · amount thresholds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4507992"/>
            <a:ext cx="73152" cy="164592"/>
          </a:xfrm>
          <a:prstGeom prst="rect">
            <a:avLst/>
          </a:prstGeom>
          <a:solidFill>
            <a:srgbClr val="4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688" y="4453128"/>
            <a:ext cx="4937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8ECF6"/>
                </a:solidFill>
                <a:latin typeface="Inter"/>
              </a:rPr>
              <a:t>Judge Mode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" y="4617720"/>
            <a:ext cx="4937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9AA6C2"/>
                </a:solidFill>
                <a:latin typeface="JetBrains Mono"/>
              </a:rPr>
              <a:t>Locked browser demo · redacted traces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7240" y="4837176"/>
            <a:ext cx="73152" cy="164592"/>
          </a:xfrm>
          <a:prstGeom prst="rect">
            <a:avLst/>
          </a:prstGeom>
          <a:solidFill>
            <a:srgbClr val="4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4782312"/>
            <a:ext cx="4937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8ECF6"/>
                </a:solidFill>
                <a:latin typeface="Inter"/>
              </a:rPr>
              <a:t>Audit trail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4946904"/>
            <a:ext cx="4937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9AA6C2"/>
                </a:solidFill>
                <a:latin typeface="JetBrains Mono"/>
              </a:rPr>
              <a:t>JSON trace + append-only audit_log.jsonl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" y="5166360"/>
            <a:ext cx="73152" cy="164592"/>
          </a:xfrm>
          <a:prstGeom prst="rect">
            <a:avLst/>
          </a:prstGeom>
          <a:solidFill>
            <a:srgbClr val="4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2688" y="5111496"/>
            <a:ext cx="4937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8ECF6"/>
                </a:solidFill>
                <a:latin typeface="Inter"/>
              </a:rPr>
              <a:t>9 evals · 61 tests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" y="5276088"/>
            <a:ext cx="4937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9AA6C2"/>
                </a:solidFill>
                <a:latin typeface="JetBrains Mono"/>
              </a:rPr>
              <a:t>All passing · ruff clean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63640" y="2331720"/>
            <a:ext cx="5349240" cy="3246120"/>
          </a:xfrm>
          <a:prstGeom prst="roundRect">
            <a:avLst>
              <a:gd name="adj" fmla="val 10000"/>
            </a:avLst>
          </a:prstGeom>
          <a:solidFill>
            <a:srgbClr val="182440"/>
          </a:solidFill>
          <a:ln w="9525">
            <a:solidFill>
              <a:srgbClr val="22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2496312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4DE6F0"/>
                </a:solidFill>
                <a:latin typeface="JetBrains Mono"/>
              </a:rPr>
              <a:t>TECH STACK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2807208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9AA6C2"/>
                </a:solidFill>
                <a:latin typeface="JetBrains Mono"/>
              </a:rPr>
              <a:t>Language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83879" y="2807208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E8ECF6"/>
                </a:solidFill>
                <a:latin typeface="Inter"/>
              </a:rPr>
              <a:t>Python 3.12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3136391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9AA6C2"/>
                </a:solidFill>
                <a:latin typeface="JetBrains Mono"/>
              </a:rPr>
              <a:t>Server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83879" y="3136391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E8ECF6"/>
                </a:solidFill>
                <a:latin typeface="Inter"/>
              </a:rPr>
              <a:t>FastAPI + Uvicorn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92240" y="3465575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9AA6C2"/>
                </a:solidFill>
                <a:latin typeface="JetBrains Mono"/>
              </a:rPr>
              <a:t>LLM reasoner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83879" y="3465575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E8ECF6"/>
                </a:solidFill>
                <a:latin typeface="Inter"/>
              </a:rPr>
              <a:t>Pluggable (OpenAI / Claude) via 9router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0" y="3794759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9AA6C2"/>
                </a:solidFill>
                <a:latin typeface="JetBrains Mono"/>
              </a:rPr>
              <a:t>Payment rails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83879" y="3794759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E8ECF6"/>
                </a:solidFill>
                <a:latin typeface="Inter"/>
              </a:rPr>
              <a:t>DOKU MCP Server (sandbox)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92240" y="4123944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9AA6C2"/>
                </a:solidFill>
                <a:latin typeface="JetBrains Mono"/>
              </a:rPr>
              <a:t>Transport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83879" y="4123944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E8ECF6"/>
                </a:solidFill>
                <a:latin typeface="Inter"/>
              </a:rPr>
              <a:t>HTTP JSON-RPC · MCP 2025-06-18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92240" y="4453128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9AA6C2"/>
                </a:solidFill>
                <a:latin typeface="JetBrains Mono"/>
              </a:rPr>
              <a:t>Persistence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83879" y="4453128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E8ECF6"/>
                </a:solidFill>
                <a:latin typeface="Inter"/>
              </a:rPr>
              <a:t>JSON / JSONL traces · audit log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92240" y="4782312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9AA6C2"/>
                </a:solidFill>
                <a:latin typeface="JetBrains Mono"/>
              </a:rPr>
              <a:t>Tests / lint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83879" y="4782312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E8ECF6"/>
                </a:solidFill>
                <a:latin typeface="Inter"/>
              </a:rPr>
              <a:t>pytest (61 passing) · ruff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92240" y="5111496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9AA6C2"/>
                </a:solidFill>
                <a:latin typeface="JetBrains Mono"/>
              </a:rPr>
              <a:t>Deploy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183879" y="5111496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E8ECF6"/>
                </a:solidFill>
                <a:latin typeface="Inter"/>
              </a:rPr>
              <a:t>Docker · Uvicorn · Judge Mode UI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48640" y="5760720"/>
            <a:ext cx="11064240" cy="502920"/>
          </a:xfrm>
          <a:prstGeom prst="roundRect">
            <a:avLst>
              <a:gd name="adj" fmla="val 10000"/>
            </a:avLst>
          </a:prstGeom>
          <a:solidFill>
            <a:srgbClr val="182440"/>
          </a:solidFill>
          <a:ln w="12700">
            <a:solidFill>
              <a:srgbClr val="4D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68680" y="5760720"/>
            <a:ext cx="104241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4DE6F0"/>
                </a:solidFill>
                <a:latin typeface="JetBrains Mono"/>
              </a:rPr>
              <a:t>JUDGE MODE  ·  /judge browser demo  ·  token-protected workflows  ·  redacted traces  ·  /docs · /agent/run · /traces blocked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64592" cy="164592"/>
          </a:xfrm>
          <a:prstGeom prst="rect">
            <a:avLst/>
          </a:prstGeom>
          <a:solidFill>
            <a:srgbClr val="4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4DE6F0"/>
                </a:solidFill>
                <a:latin typeface="JetBrains Mono"/>
              </a:rPr>
              <a:t>05  ·  FUTURE &amp;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E8ECF6"/>
                </a:solidFill>
                <a:latin typeface="Inter"/>
              </a:rPr>
              <a:t>From hackathon MVP to the
operator every DOKU merchant runs.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9AA6C2"/>
                </a:solidFill>
                <a:latin typeface="Inter"/>
              </a:rPr>
              <a:t>Direct impact for Indonesian merchants. Clear roadmap from sandbox to merchant-grade.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9AA6C2"/>
                </a:solidFill>
                <a:latin typeface="JetBrains Mono"/>
              </a:rPr>
              <a:t>OPENCLAW 2026  ·  TEAM TOKENBURNER  ·  LEDGERSOUL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>
                <a:solidFill>
                  <a:srgbClr val="9AA6C2"/>
                </a:solidFill>
                <a:latin typeface="JetBrains Mono"/>
              </a:rPr>
              <a:t>05 / 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31720"/>
            <a:ext cx="3611880" cy="1691640"/>
          </a:xfrm>
          <a:prstGeom prst="roundRect">
            <a:avLst>
              <a:gd name="adj" fmla="val 10000"/>
            </a:avLst>
          </a:prstGeom>
          <a:solidFill>
            <a:srgbClr val="182440"/>
          </a:solidFill>
          <a:ln w="9525">
            <a:solidFill>
              <a:srgbClr val="22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331720"/>
            <a:ext cx="91440" cy="1691640"/>
          </a:xfrm>
          <a:prstGeom prst="rect">
            <a:avLst/>
          </a:prstGeom>
          <a:solidFill>
            <a:srgbClr val="4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496312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4DE6F0"/>
                </a:solidFill>
                <a:latin typeface="JetBrains Mono"/>
              </a:rPr>
              <a:t>NOW  ·  v0.1  HACKATHON MVP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59" y="2907791"/>
            <a:ext cx="54864" cy="146304"/>
          </a:xfrm>
          <a:prstGeom prst="rect">
            <a:avLst/>
          </a:prstGeom>
          <a:solidFill>
            <a:srgbClr val="4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834639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E8ECF6"/>
                </a:solidFill>
                <a:latin typeface="Inter"/>
              </a:rPr>
              <a:t>12-stage autonomous loop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59" y="3182111"/>
            <a:ext cx="54864" cy="146304"/>
          </a:xfrm>
          <a:prstGeom prst="rect">
            <a:avLst/>
          </a:prstGeom>
          <a:solidFill>
            <a:srgbClr val="4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108959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E8ECF6"/>
                </a:solidFill>
                <a:latin typeface="Inter"/>
              </a:rPr>
              <a:t>DOKU MCP sandbox integration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59" y="3456431"/>
            <a:ext cx="54864" cy="146304"/>
          </a:xfrm>
          <a:prstGeom prst="rect">
            <a:avLst/>
          </a:prstGeom>
          <a:solidFill>
            <a:srgbClr val="4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383279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E8ECF6"/>
                </a:solidFill>
                <a:latin typeface="Inter"/>
              </a:rPr>
              <a:t>Judge Mode w/ redacted traces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59" y="3730751"/>
            <a:ext cx="54864" cy="146304"/>
          </a:xfrm>
          <a:prstGeom prst="rect">
            <a:avLst/>
          </a:prstGeom>
          <a:solidFill>
            <a:srgbClr val="4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657599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E8ECF6"/>
                </a:solidFill>
                <a:latin typeface="Inter"/>
              </a:rPr>
              <a:t>9 evals · 61 tests passing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79392" y="2331720"/>
            <a:ext cx="3611880" cy="1691640"/>
          </a:xfrm>
          <a:prstGeom prst="roundRect">
            <a:avLst>
              <a:gd name="adj" fmla="val 10000"/>
            </a:avLst>
          </a:prstGeom>
          <a:solidFill>
            <a:srgbClr val="182440"/>
          </a:solidFill>
          <a:ln w="9525">
            <a:solidFill>
              <a:srgbClr val="22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79392" y="2331720"/>
            <a:ext cx="91440" cy="1691640"/>
          </a:xfrm>
          <a:prstGeom prst="rect">
            <a:avLst/>
          </a:prstGeom>
          <a:solidFill>
            <a:srgbClr val="A9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07992" y="2496312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A97CFF"/>
                </a:solidFill>
                <a:latin typeface="JetBrains Mono"/>
              </a:rPr>
              <a:t>NEXT  ·  v0.2  PILOT WITH 1 MERCHANT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53712" y="2907791"/>
            <a:ext cx="54864" cy="146304"/>
          </a:xfrm>
          <a:prstGeom prst="rect">
            <a:avLst/>
          </a:prstGeom>
          <a:solidFill>
            <a:srgbClr val="A9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90872" y="2834639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E8ECF6"/>
                </a:solidFill>
                <a:latin typeface="Inter"/>
              </a:rPr>
              <a:t>Live mode behind explicit flags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53712" y="3182111"/>
            <a:ext cx="54864" cy="146304"/>
          </a:xfrm>
          <a:prstGeom prst="rect">
            <a:avLst/>
          </a:prstGeom>
          <a:solidFill>
            <a:srgbClr val="A9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90872" y="3108959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E8ECF6"/>
                </a:solidFill>
                <a:latin typeface="Inter"/>
              </a:rPr>
              <a:t>Webhook signature validation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53712" y="3456431"/>
            <a:ext cx="54864" cy="146304"/>
          </a:xfrm>
          <a:prstGeom prst="rect">
            <a:avLst/>
          </a:prstGeom>
          <a:solidFill>
            <a:srgbClr val="A9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90872" y="3383279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E8ECF6"/>
                </a:solidFill>
                <a:latin typeface="Inter"/>
              </a:rPr>
              <a:t>Slack / Telegram approvals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53712" y="3730751"/>
            <a:ext cx="54864" cy="146304"/>
          </a:xfrm>
          <a:prstGeom prst="rect">
            <a:avLst/>
          </a:prstGeom>
          <a:solidFill>
            <a:srgbClr val="A9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90872" y="3657599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E8ECF6"/>
                </a:solidFill>
                <a:latin typeface="Inter"/>
              </a:rPr>
              <a:t>SQLite state · richer dashboards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10144" y="2331720"/>
            <a:ext cx="3611880" cy="1691640"/>
          </a:xfrm>
          <a:prstGeom prst="roundRect">
            <a:avLst>
              <a:gd name="adj" fmla="val 10000"/>
            </a:avLst>
          </a:prstGeom>
          <a:solidFill>
            <a:srgbClr val="182440"/>
          </a:solidFill>
          <a:ln w="9525">
            <a:solidFill>
              <a:srgbClr val="22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10144" y="2331720"/>
            <a:ext cx="91440" cy="1691640"/>
          </a:xfrm>
          <a:prstGeom prst="rect">
            <a:avLst/>
          </a:prstGeom>
          <a:solidFill>
            <a:srgbClr val="FFC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38744" y="2496312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FC86B"/>
                </a:solidFill>
                <a:latin typeface="JetBrains Mono"/>
              </a:rPr>
              <a:t>LATER  ·  v1.0  MERCHANT-GRADE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84464" y="2907791"/>
            <a:ext cx="54864" cy="146304"/>
          </a:xfrm>
          <a:prstGeom prst="rect">
            <a:avLst/>
          </a:prstGeom>
          <a:solidFill>
            <a:srgbClr val="FFC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21624" y="2834639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E8ECF6"/>
                </a:solidFill>
                <a:latin typeface="Inter"/>
              </a:rPr>
              <a:t>Multi-merchant tenancy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84464" y="3182111"/>
            <a:ext cx="54864" cy="146304"/>
          </a:xfrm>
          <a:prstGeom prst="rect">
            <a:avLst/>
          </a:prstGeom>
          <a:solidFill>
            <a:srgbClr val="FFC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21624" y="3108959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E8ECF6"/>
                </a:solidFill>
                <a:latin typeface="Inter"/>
              </a:rPr>
              <a:t>Refund + dispute workflows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84464" y="3456431"/>
            <a:ext cx="54864" cy="146304"/>
          </a:xfrm>
          <a:prstGeom prst="rect">
            <a:avLst/>
          </a:prstGeom>
          <a:solidFill>
            <a:srgbClr val="FFC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21624" y="3383279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E8ECF6"/>
                </a:solidFill>
                <a:latin typeface="Inter"/>
              </a:rPr>
              <a:t>Policy editor for ops teams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84464" y="3730751"/>
            <a:ext cx="54864" cy="146304"/>
          </a:xfrm>
          <a:prstGeom prst="rect">
            <a:avLst/>
          </a:prstGeom>
          <a:solidFill>
            <a:srgbClr val="FFC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21624" y="3657599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E8ECF6"/>
                </a:solidFill>
                <a:latin typeface="Inter"/>
              </a:rPr>
              <a:t>LLM-assisted planner upgrades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" y="4251960"/>
            <a:ext cx="2697480" cy="960120"/>
          </a:xfrm>
          <a:prstGeom prst="roundRect">
            <a:avLst>
              <a:gd name="adj" fmla="val 10000"/>
            </a:avLst>
          </a:prstGeom>
          <a:solidFill>
            <a:srgbClr val="0D1428"/>
          </a:solidFill>
          <a:ln w="9525">
            <a:solidFill>
              <a:srgbClr val="22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438912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4DE6F0"/>
                </a:solidFill>
                <a:latin typeface="Inter"/>
              </a:rPr>
              <a:t>hours → minutes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4846320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9AA6C2"/>
                </a:solidFill>
                <a:latin typeface="JetBrains Mono"/>
              </a:rPr>
              <a:t>recovery cycle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337560" y="4251960"/>
            <a:ext cx="2697480" cy="960120"/>
          </a:xfrm>
          <a:prstGeom prst="roundRect">
            <a:avLst>
              <a:gd name="adj" fmla="val 10000"/>
            </a:avLst>
          </a:prstGeom>
          <a:solidFill>
            <a:srgbClr val="0D1428"/>
          </a:solidFill>
          <a:ln w="9525">
            <a:solidFill>
              <a:srgbClr val="22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337560" y="438912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4DE6F0"/>
                </a:solidFill>
                <a:latin typeface="Inter"/>
              </a:rPr>
              <a:t>100%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37560" y="4846320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9AA6C2"/>
                </a:solidFill>
                <a:latin typeface="JetBrains Mono"/>
              </a:rPr>
              <a:t>audited runs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126480" y="4251960"/>
            <a:ext cx="2697480" cy="960120"/>
          </a:xfrm>
          <a:prstGeom prst="roundRect">
            <a:avLst>
              <a:gd name="adj" fmla="val 10000"/>
            </a:avLst>
          </a:prstGeom>
          <a:solidFill>
            <a:srgbClr val="0D1428"/>
          </a:solidFill>
          <a:ln w="9525">
            <a:solidFill>
              <a:srgbClr val="22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26480" y="438912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4DE6F0"/>
                </a:solidFill>
                <a:latin typeface="Inter"/>
              </a:rPr>
              <a:t>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26480" y="4846320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9AA6C2"/>
                </a:solidFill>
                <a:latin typeface="JetBrains Mono"/>
              </a:rPr>
              <a:t>fabricated decisions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915400" y="4251960"/>
            <a:ext cx="2697480" cy="960120"/>
          </a:xfrm>
          <a:prstGeom prst="roundRect">
            <a:avLst>
              <a:gd name="adj" fmla="val 10000"/>
            </a:avLst>
          </a:prstGeom>
          <a:solidFill>
            <a:srgbClr val="0D1428"/>
          </a:solidFill>
          <a:ln w="9525">
            <a:solidFill>
              <a:srgbClr val="22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915400" y="438912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4DE6F0"/>
                </a:solidFill>
                <a:latin typeface="Inter"/>
              </a:rPr>
              <a:t>any merchant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915400" y="4846320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9AA6C2"/>
                </a:solidFill>
                <a:latin typeface="JetBrains Mono"/>
              </a:rPr>
              <a:t>with DOKU MCP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48640" y="5532120"/>
            <a:ext cx="11064240" cy="777240"/>
          </a:xfrm>
          <a:prstGeom prst="roundRect">
            <a:avLst>
              <a:gd name="adj" fmla="val 10000"/>
            </a:avLst>
          </a:prstGeom>
          <a:solidFill>
            <a:srgbClr val="182440"/>
          </a:solidFill>
          <a:ln w="12700">
            <a:solidFill>
              <a:srgbClr val="4D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68680" y="5623559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4DE6F0"/>
                </a:solidFill>
                <a:latin typeface="JetBrains Mono"/>
              </a:rPr>
              <a:t>WHY DOKU SHOULD CARE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68680" y="589788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ECF6"/>
                </a:solidFill>
                <a:latin typeface="Inter"/>
              </a:rPr>
              <a:t>Every DOKU merchant inherits a 24/7 audited operator on day one — without changing checkout, settlement, or fraud rails.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