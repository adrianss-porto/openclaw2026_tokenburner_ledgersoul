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76656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76656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76656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6656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76656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76656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11403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11403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11403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11403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11403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11403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11403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11403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46150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46150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6150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6150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46150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6150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46150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6150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780897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80897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80897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780897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80897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80897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0897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80897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156448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156448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56448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156448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156448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156448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156448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156448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50392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50392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50392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850392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850392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50392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850392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50392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85139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85139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85139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85139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885139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885139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85139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85139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9886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9886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9886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19886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19886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19886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919886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919886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954633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954633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ounded Rectangle 70"/>
          <p:cNvSpPr/>
          <p:nvPr/>
        </p:nvSpPr>
        <p:spPr>
          <a:xfrm>
            <a:off x="954633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54633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54633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4633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4633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4633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893808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9893808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9893808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ounded Rectangle 79"/>
          <p:cNvSpPr/>
          <p:nvPr/>
        </p:nvSpPr>
        <p:spPr>
          <a:xfrm>
            <a:off x="9893808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9893808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ounded Rectangle 81"/>
          <p:cNvSpPr/>
          <p:nvPr/>
        </p:nvSpPr>
        <p:spPr>
          <a:xfrm>
            <a:off x="9893808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9893808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ounded Rectangle 83"/>
          <p:cNvSpPr/>
          <p:nvPr/>
        </p:nvSpPr>
        <p:spPr>
          <a:xfrm>
            <a:off x="9893808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10241280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ounded Rectangle 85"/>
          <p:cNvSpPr/>
          <p:nvPr/>
        </p:nvSpPr>
        <p:spPr>
          <a:xfrm>
            <a:off x="10241280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10241280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ounded Rectangle 87"/>
          <p:cNvSpPr/>
          <p:nvPr/>
        </p:nvSpPr>
        <p:spPr>
          <a:xfrm>
            <a:off x="10241280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10241280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10241280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10241280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10241280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10588752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10588752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10588752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ounded Rectangle 95"/>
          <p:cNvSpPr/>
          <p:nvPr/>
        </p:nvSpPr>
        <p:spPr>
          <a:xfrm>
            <a:off x="10588752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ounded Rectangle 96"/>
          <p:cNvSpPr/>
          <p:nvPr/>
        </p:nvSpPr>
        <p:spPr>
          <a:xfrm>
            <a:off x="10588752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ounded Rectangle 97"/>
          <p:cNvSpPr/>
          <p:nvPr/>
        </p:nvSpPr>
        <p:spPr>
          <a:xfrm>
            <a:off x="10588752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10588752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10588752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10936224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ounded Rectangle 101"/>
          <p:cNvSpPr/>
          <p:nvPr/>
        </p:nvSpPr>
        <p:spPr>
          <a:xfrm>
            <a:off x="10936224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10936224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ounded Rectangle 103"/>
          <p:cNvSpPr/>
          <p:nvPr/>
        </p:nvSpPr>
        <p:spPr>
          <a:xfrm>
            <a:off x="10936224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10936224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10936224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ounded Rectangle 106"/>
          <p:cNvSpPr/>
          <p:nvPr/>
        </p:nvSpPr>
        <p:spPr>
          <a:xfrm>
            <a:off x="10936224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ounded Rectangle 107"/>
          <p:cNvSpPr/>
          <p:nvPr/>
        </p:nvSpPr>
        <p:spPr>
          <a:xfrm>
            <a:off x="10936224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ounded Rectangle 108"/>
          <p:cNvSpPr/>
          <p:nvPr/>
        </p:nvSpPr>
        <p:spPr>
          <a:xfrm>
            <a:off x="11283696" y="228600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ounded Rectangle 109"/>
          <p:cNvSpPr/>
          <p:nvPr/>
        </p:nvSpPr>
        <p:spPr>
          <a:xfrm>
            <a:off x="11283696" y="263347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ounded Rectangle 110"/>
          <p:cNvSpPr/>
          <p:nvPr/>
        </p:nvSpPr>
        <p:spPr>
          <a:xfrm>
            <a:off x="11283696" y="298094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11283696" y="3328416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11283696" y="3675887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ounded Rectangle 113"/>
          <p:cNvSpPr/>
          <p:nvPr/>
        </p:nvSpPr>
        <p:spPr>
          <a:xfrm>
            <a:off x="11283696" y="4023360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11283696" y="4370832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ounded Rectangle 115"/>
          <p:cNvSpPr/>
          <p:nvPr/>
        </p:nvSpPr>
        <p:spPr>
          <a:xfrm>
            <a:off x="11283696" y="4718304"/>
            <a:ext cx="36576" cy="36576"/>
          </a:xfrm>
          <a:prstGeom prst="roundRect">
            <a:avLst>
              <a:gd name="adj" fmla="val 50000"/>
            </a:avLst>
          </a:prstGeom>
          <a:solidFill>
            <a:srgbClr val="18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822960" y="777240"/>
            <a:ext cx="2190000" cy="240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22960" y="777240"/>
            <a:ext cx="219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E6F0"/>
                </a:solidFill>
                <a:latin typeface="JetBrains Mono"/>
              </a:rPr>
              <a:t> DOKU HACKATHON · AGENT TRACK 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2960" y="1280160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600">
                <a:solidFill>
                  <a:srgbClr val="8B99B5"/>
                </a:solidFill>
                <a:latin typeface="JetBrains Mono"/>
              </a:rPr>
              <a:t>LEDGERSOUL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22960" y="182880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The autonomous </a:t>
            </a:r>
            <a:r>
              <a:rPr sz="5800" b="1">
                <a:solidFill>
                  <a:srgbClr val="4DE6F0"/>
                </a:solidFill>
                <a:latin typeface="Inter"/>
              </a:rPr>
              <a:t>payment ops agent</a:t>
            </a:r>
          </a:p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for DOKU merchants.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B99B5"/>
                </a:solidFill>
                <a:latin typeface="Inter"/>
              </a:rPr>
              <a:t>Observe → Plan → Verify → Audit. Every payment event ends in one of three states: resolved, safely pending, or escalated with context.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2960" y="5532120"/>
            <a:ext cx="1051560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2296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BUILT ON  ·  DOKU MCP SANDBOX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4572000" y="5669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300">
                <a:solidFill>
                  <a:srgbClr val="8B99B5"/>
                </a:solidFill>
                <a:latin typeface="JetBrains Mono"/>
              </a:rPr>
              <a:t>STACK  ·  PYTHON · FASTAPI · DOCKER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595360" y="5669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spc="300">
                <a:solidFill>
                  <a:srgbClr val="8B99B5"/>
                </a:solidFill>
                <a:latin typeface="JetBrains Mono"/>
              </a:rPr>
              <a:t>v0.1 · MAY 2026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01  ·  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Payment ops is a 24/7 firefight.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8B99B5"/>
                </a:solidFill>
                <a:latin typeface="Inter"/>
              </a:rPr>
              <a:t>Every merchant on DOKU lives the same loop: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7063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0604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Failed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89864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drop silently — recovery happens hours late, if at all.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3931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47472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Suspicious charges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76732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pile up in inboxes with no consistent triage.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50799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3434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Refund requests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get approved on gut feel, with no audit trail.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76672"/>
            <a:ext cx="73152" cy="4572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5212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Duplicate webhooks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504688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8B99B5"/>
                </a:solidFill>
                <a:latin typeface="Inter"/>
              </a:rPr>
              <a:t>re-trigger actions and corrupt reconciliation.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766560" y="1920240"/>
            <a:ext cx="4846320" cy="4206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21031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WHAT GOES WRONG TODAY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2697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69748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ops staff copy-paste between dashboards, Slack, and email.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5204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Inconsistent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352044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same event handled three different ways by three people.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43434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Unauditable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3434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decisions live in DMs, not in a system of record.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51663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4DE6F0"/>
                </a:solidFill>
                <a:latin typeface="Inter"/>
              </a:rPr>
              <a:t>Risky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516636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refunds and recovery links issued without policy checks.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02  ·  THE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Payment ops isn't a chat problem.
It's a lifecycle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468880"/>
            <a:ext cx="6766560" cy="347472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69748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A97CFF"/>
                </a:solidFill>
                <a:latin typeface="JetBrains Mono"/>
              </a:rPr>
              <a:t>OUR 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063240"/>
            <a:ext cx="64008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A useful agent isn't </a:t>
            </a:r>
            <a:r>
              <a:rPr sz="2600" b="1">
                <a:solidFill>
                  <a:srgbClr val="8B99B5"/>
                </a:solidFill>
                <a:latin typeface="Inter"/>
              </a:rPr>
              <a:t>"a chatbot with tools."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It's a </a:t>
            </a:r>
            <a:r>
              <a:rPr sz="2600" b="1">
                <a:solidFill>
                  <a:srgbClr val="4DE6F0"/>
                </a:solidFill>
                <a:latin typeface="Inter"/>
              </a:rPr>
              <a:t>deterministic lifecycle</a:t>
            </a:r>
            <a:r>
              <a:rPr sz="2600" b="1">
                <a:solidFill>
                  <a:srgbClr val="E6ECF6"/>
                </a:solidFill>
                <a:latin typeface="Inter"/>
              </a:rPr>
              <a:t> with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identity, planning, verification,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memory, guardrails, and audit</a:t>
            </a:r>
            <a:r>
              <a:rPr sz="2600" b="1">
                <a:solidFill>
                  <a:srgbClr val="E6ECF6"/>
                </a:solidFill>
                <a:latin typeface="Inter"/>
              </a:rPr>
              <a:t> — every</a:t>
            </a:r>
          </a:p>
          <a:p>
            <a:pPr algn="l">
              <a:lnSpc>
                <a:spcPct val="120000"/>
              </a:lnSpc>
            </a:pPr>
            <a:r>
              <a:rPr sz="2600" b="1">
                <a:solidFill>
                  <a:srgbClr val="E6ECF6"/>
                </a:solidFill>
                <a:latin typeface="Inter"/>
              </a:rPr>
              <a:t>single run.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246888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845552" y="263347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58775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IDENTITY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5292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soul.md — purpose, values, refusals.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333756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45552" y="350215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0" y="345643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LIFECYCLE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372160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12 deterministic stages, every event.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80960" y="420624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45552" y="437083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0" y="43251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VERIFICATION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459028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every tool result is inspected.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80960" y="5074920"/>
            <a:ext cx="3931920" cy="777240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845552" y="5239512"/>
            <a:ext cx="73152" cy="4572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519379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AUDIT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5458968"/>
            <a:ext cx="3383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one trace file per run. Always.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03  ·  THE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LedgerSoul: an agent with a soul,
a contract, and an audit trail.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THE SOUL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soul.md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Calm, precise, cautious.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Refuses to fabricate status.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Refuses to skip audit logging.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Escalates instead of guessing.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THE CONTRACT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agent.md + lifecycle.md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6344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4632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12-stage deterministic loop.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Validate → plan → verify → reflect.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Status: completed · escalated · duplicate · blocked.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Every event ends in exactly one state.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29600" y="201168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219456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THE TRAIL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3920" y="25146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traces/ + audit_log.jsonl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503920" y="325526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310896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One JSON trace per run.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03920" y="380390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0" y="365760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Append-only audit log.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503920" y="435254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86800" y="420624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Pending approvals queue.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503920" y="4901184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86800" y="4754880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Idempotency log per event_id.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04  ·  HOW IT THINKS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 12-stage lifecycle. Same loop, every event.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BOOT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2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50592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OBSERVE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52544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52544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5424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5424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VALIDATE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4496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4496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37376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IDEMPOTENCY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56448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56448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39328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39328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INTERPRET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2011680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0058400" y="2011680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21488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2395728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PLAN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450592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450592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633472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33472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ACT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52544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52544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5424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5424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VERIFY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54496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54496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37376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37376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REMEMBER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56448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56448" y="3090672"/>
            <a:ext cx="1828800" cy="36576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39328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4DE6F0"/>
                </a:solidFill>
                <a:latin typeface="JetBrains Mono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39328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REFLECT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058400" y="3090672"/>
            <a:ext cx="1828800" cy="914400"/>
          </a:xfrm>
          <a:prstGeom prst="roundRect">
            <a:avLst>
              <a:gd name="adj" fmla="val 8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058400" y="3090672"/>
            <a:ext cx="1828800" cy="36576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241280" y="322783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A97CFF"/>
                </a:solidFill>
                <a:latin typeface="JetBrains Mono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41280" y="34747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STOP / ESCALATE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8B99B5"/>
                </a:solidFill>
                <a:latin typeface="JetBrains Mono"/>
              </a:rPr>
              <a:t>▸  one of six terminal states  ·  always with a trace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6EE79C"/>
                </a:solidFill>
                <a:latin typeface="JetBrains Mono"/>
              </a:rPr>
              <a:t> ● completed 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77680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7680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C06E"/>
                </a:solidFill>
                <a:latin typeface="JetBrains Mono"/>
              </a:rPr>
              <a:t> ● escalated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004960" y="4709160"/>
            <a:ext cx="109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004960" y="4709160"/>
            <a:ext cx="109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8B99B5"/>
                </a:solidFill>
                <a:latin typeface="JetBrains Mono"/>
              </a:rPr>
              <a:t> ● duplicate 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233120" y="4709160"/>
            <a:ext cx="937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33120" y="4709160"/>
            <a:ext cx="937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FFC06E"/>
                </a:solidFill>
                <a:latin typeface="JetBrains Mono"/>
              </a:rPr>
              <a:t> ● blocked 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5307280" y="4709160"/>
            <a:ext cx="1861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307280" y="4709160"/>
            <a:ext cx="1861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93A3A"/>
                </a:solidFill>
                <a:latin typeface="JetBrains Mono"/>
              </a:rPr>
              <a:t> ● failed_verification 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305440" y="4709160"/>
            <a:ext cx="783000" cy="264000"/>
          </a:xfrm>
          <a:prstGeom prst="roundRect">
            <a:avLst>
              <a:gd name="adj" fmla="val 50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305440" y="4709160"/>
            <a:ext cx="783000" cy="26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>
                <a:solidFill>
                  <a:srgbClr val="E93A3A"/>
                </a:solidFill>
                <a:latin typeface="JetBrains Mono"/>
              </a:rPr>
              <a:t> ● error 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48640" y="5577840"/>
            <a:ext cx="10972800" cy="640080"/>
          </a:xfrm>
          <a:prstGeom prst="roundRect">
            <a:avLst>
              <a:gd name="adj" fmla="val 1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777240" y="5687568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1">
                <a:solidFill>
                  <a:srgbClr val="4DE6F0"/>
                </a:solidFill>
                <a:latin typeface="JetBrains Mono"/>
              </a:rPr>
              <a:t>Trace guarantee: </a:t>
            </a:r>
            <a:r>
              <a:rPr sz="1200" b="0">
                <a:solidFill>
                  <a:srgbClr val="E6ECF6"/>
                </a:solidFill>
                <a:latin typeface="Inter"/>
              </a:rPr>
              <a:t>every run writes exactly one </a:t>
            </a:r>
            <a:r>
              <a:rPr sz="1200" b="0">
                <a:solidFill>
                  <a:srgbClr val="6EE79C"/>
                </a:solidFill>
                <a:latin typeface="JetBrains Mono"/>
              </a:rPr>
              <a:t>traces/&lt;event_id&gt;-&lt;timestamp&gt;.json</a:t>
            </a:r>
            <a:r>
              <a:rPr sz="1200" b="0">
                <a:solidFill>
                  <a:srgbClr val="E6ECF6"/>
                </a:solidFill>
                <a:latin typeface="Inter"/>
              </a:rPr>
              <a:t> — including failures.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05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Small, deterministic, file-backed runtime.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246888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92024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76272"/>
            <a:ext cx="2103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POST /agent/run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43784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POST /webhooks/payment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17296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CLI scenario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502152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GET  /judge runs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91840" y="2011680"/>
            <a:ext cx="5212080" cy="402336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12700">
            <a:solidFill>
              <a:srgbClr val="4D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20440" y="21488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AGENT RUNTIME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20440" y="260604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724912"/>
            <a:ext cx="54864" cy="27432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Planner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697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deterministic event → plan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520440" y="315468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11880" y="3273552"/>
            <a:ext cx="54864" cy="27432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94760" y="321868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Policies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3212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thresholds &amp; escalation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520440" y="370332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11880" y="382219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76732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Executor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7947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runs tools via TOOL_REGISTRY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520440" y="425196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11880" y="4370832"/>
            <a:ext cx="54864" cy="27432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94760" y="431596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Verifier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532120" y="4343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checks every tool result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20440" y="480060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11880" y="491947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486460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Reflection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532120" y="4892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structured run summary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520440" y="5349240"/>
            <a:ext cx="4754880" cy="502920"/>
          </a:xfrm>
          <a:prstGeom prst="roundRect">
            <a:avLst>
              <a:gd name="adj" fmla="val 1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11880" y="5468112"/>
            <a:ext cx="54864" cy="27432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794760" y="5413248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E6ECF6"/>
                </a:solidFill>
                <a:latin typeface="Inter"/>
              </a:rPr>
              <a:t>Memory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54406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B99B5"/>
                </a:solidFill>
                <a:latin typeface="JetBrains Mono"/>
              </a:rPr>
              <a:t>JSON / JSONL persistence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2011680"/>
            <a:ext cx="283464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778240" y="2011680"/>
            <a:ext cx="54864" cy="192024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6840" y="217627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A97CFF"/>
                </a:solidFill>
                <a:latin typeface="JetBrains Mono"/>
              </a:rPr>
              <a:t>TOOLS (TOOL_REGISTRY)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06840" y="251460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check_payment_status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284378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create_recovery_link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317296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get_transaction_by_invoice_number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06840" y="350215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draft_customer_message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83133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create_approval_request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06840" y="41605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write_audit_log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06840" y="44897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list_doku_mcp_tools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48188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call_doku_mcp_tool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778240" y="4114800"/>
            <a:ext cx="2834640" cy="192024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778240" y="4114800"/>
            <a:ext cx="54864" cy="192024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06840" y="4279392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6EE79C"/>
                </a:solidFill>
                <a:latin typeface="JetBrains Mono"/>
              </a:rPr>
              <a:t>STATE  (state/ + traces/)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06840" y="461772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processed_events.jsonl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06840" y="4946904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audit_log.jsonl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06840" y="5276088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memory.jsonl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560527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pending_approvals.jsonl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06840" y="5934456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E6ECF6"/>
                </a:solidFill>
                <a:latin typeface="Inter"/>
              </a:rPr>
              <a:t>traces/&lt;event_id&gt;-&lt;ts&gt;.json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3017520" y="3017520"/>
            <a:ext cx="274320" cy="0"/>
          </a:xfrm>
          <a:prstGeom prst="line">
            <a:avLst/>
          </a:prstGeom>
          <a:ln w="19050">
            <a:solidFill>
              <a:srgbClr val="4D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8503920" y="3017520"/>
            <a:ext cx="274320" cy="0"/>
          </a:xfrm>
          <a:prstGeom prst="line">
            <a:avLst/>
          </a:prstGeom>
          <a:ln w="19050">
            <a:solidFill>
              <a:srgbClr val="4D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8503920" y="5029200"/>
            <a:ext cx="274320" cy="0"/>
          </a:xfrm>
          <a:prstGeom prst="line">
            <a:avLst/>
          </a:prstGeom>
          <a:ln w="19050">
            <a:solidFill>
              <a:srgbClr val="6EE79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06  ·  DOKU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First-class on the DOKU MCP Server.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64008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WIRED TO THE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060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PAYMENT_PROVIDER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2606040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doku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169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PAYMENT_API_MODE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916936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sandbox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22783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DOKU_MCP_URL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227832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https://api-sandbox.doku.com/doku-mcp-server/mcp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53872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DOKU_CLIENT_ID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538728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&lt;brand id&gt;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8496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4DE6F0"/>
                </a:solidFill>
                <a:latin typeface="JetBrains Mono"/>
              </a:rPr>
              <a:t>DOKU_API_KEY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3849624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E6ECF6"/>
                </a:solidFill>
                <a:latin typeface="JetBrains Mono"/>
              </a:rPr>
              <a:t>= &lt;api key&gt;           # → Basic &lt;b64(api_key:)&gt;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4434840"/>
            <a:ext cx="585216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57200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TWO EXPLICIT MCP TOOLS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4937760"/>
            <a:ext cx="594360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1">
                <a:solidFill>
                  <a:srgbClr val="6EE79C"/>
                </a:solidFill>
                <a:latin typeface="JetBrains Mono"/>
              </a:rPr>
              <a:t>list_doku_mcp_tools</a:t>
            </a:r>
            <a:r>
              <a:rPr sz="1200" b="0">
                <a:solidFill>
                  <a:srgbClr val="E6ECF6"/>
                </a:solidFill>
                <a:latin typeface="Inter"/>
              </a:rPr>
              <a:t>  · initialize MCP, enumerate remote tools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6EE79C"/>
                </a:solidFill>
                <a:latin typeface="JetBrains Mono"/>
              </a:rPr>
              <a:t>call_doku_mcp_tool</a:t>
            </a:r>
            <a:r>
              <a:rPr sz="1200" b="0">
                <a:solidFill>
                  <a:srgbClr val="E6ECF6"/>
                </a:solidFill>
                <a:latin typeface="Inter"/>
              </a:rPr>
              <a:t>  · workflow-scoped, allowlisted by name</a:t>
            </a:r>
          </a:p>
          <a:p>
            <a:pPr algn="l">
              <a:lnSpc>
                <a:spcPct val="150000"/>
              </a:lnSpc>
            </a:pPr>
            <a:r>
              <a:rPr sz="1200" b="1">
                <a:solidFill>
                  <a:srgbClr val="FFC06E"/>
                </a:solidFill>
                <a:latin typeface="Inter"/>
              </a:rPr>
              <a:t>Judge mode</a:t>
            </a:r>
            <a:r>
              <a:rPr sz="1200" b="0">
                <a:solidFill>
                  <a:srgbClr val="E6ECF6"/>
                </a:solidFill>
                <a:latin typeface="Inter"/>
              </a:rPr>
              <a:t> hardcodes </a:t>
            </a:r>
            <a:r>
              <a:rPr sz="1200" b="0">
                <a:solidFill>
                  <a:srgbClr val="6EE79C"/>
                </a:solidFill>
                <a:latin typeface="JetBrains Mono"/>
              </a:rPr>
              <a:t>get_merchant_payment_methods</a:t>
            </a:r>
            <a:r>
              <a:rPr sz="1200" b="0">
                <a:solidFill>
                  <a:srgbClr val="E6ECF6"/>
                </a:solidFill>
                <a:latin typeface="Inter"/>
              </a:rPr>
              <a:t> — judges cannot pass arbitrary tool names.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2011680"/>
            <a:ext cx="4389120" cy="420624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52360" y="21945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WHY IT MATTERS FOR DOKU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52360" y="26974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20" y="271576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Native MCP citizen — no custom adapters.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3375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335584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Sandbox-first; live mode behind explicit env flags.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60" y="39776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399592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Judges run real DOKU sandbox tools, safely.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6177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20" y="463600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All credentials redacted in every trace.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52360" y="52578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6EE79C"/>
                </a:solidFill>
                <a:latin typeface="Inter"/>
              </a:rPr>
              <a:t>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5276088"/>
            <a:ext cx="3657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Reusable across DOKU merchants, day one.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07  ·  JUDGE MODE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 locked browser demo built for scoring.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85216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WHAT JUDGES SEE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86207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69748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/judge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73405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single demo page, token-protected.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345643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29184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Run Transaction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332841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deterministic full-lifecycle trace.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5079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8862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Run DOKU Payment Methods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392277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read-only sandbox MCP workflow.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64515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Inspect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451713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status · classification · risk · tools · timeline.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5239512"/>
            <a:ext cx="54864" cy="27432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07492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4DE6F0"/>
                </a:solidFill>
                <a:latin typeface="JetBrains Mono"/>
              </a:rPr>
              <a:t>Redacted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5111496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DOKU keys, tokens, headers stripped before display.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2011680"/>
            <a:ext cx="4937760" cy="4206240"/>
          </a:xfrm>
          <a:prstGeom prst="roundRect">
            <a:avLst>
              <a:gd name="adj" fmla="val 4000"/>
            </a:avLst>
          </a:prstGeom>
          <a:solidFill>
            <a:srgbClr val="16223A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0" y="219456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E93A3A"/>
                </a:solidFill>
                <a:latin typeface="JetBrains Mono"/>
              </a:rPr>
              <a:t>WHAT JUDGE MODE BLOCKS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49440" y="26974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752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2761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/agent/run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49440" y="31546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209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3218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/state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0" y="36118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0" y="36667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36758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/traces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49440" y="40690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32320" y="41239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20" y="41330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/doku/mcp/tools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49440" y="45262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45811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89520" y="45902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/docs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49440" y="49834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132320" y="50383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0474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/redoc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49440" y="5440680"/>
            <a:ext cx="4389120" cy="384048"/>
          </a:xfrm>
          <a:prstGeom prst="roundRect">
            <a:avLst>
              <a:gd name="adj" fmla="val 2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32320" y="5495544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E93A3A"/>
                </a:solidFill>
                <a:latin typeface="Inter"/>
              </a:rPr>
              <a:t>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589520" y="5504688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E6ECF6"/>
                </a:solidFill>
                <a:latin typeface="JetBrains Mono"/>
              </a:rPr>
              <a:t>/openapi.json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49440" y="576072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FFC06E"/>
                </a:solidFill>
                <a:latin typeface="JetBrains Mono"/>
              </a:rPr>
              <a:t>JUDGE_ALLOW_SANDBOX_WRITES = false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FC06E"/>
                </a:solidFill>
                <a:latin typeface="JetBrains Mono"/>
              </a:rPr>
              <a:t>08  ·  GUARDRAILS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Autonomy with explicit limits.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54864" cy="1325880"/>
          </a:xfrm>
          <a:prstGeom prst="rect">
            <a:avLst/>
          </a:prstGeom>
          <a:solidFill>
            <a:srgbClr val="FFC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FFC06E"/>
                </a:solidFill>
                <a:latin typeface="JetBrains Mono"/>
              </a:rPr>
              <a:t>AMOUNT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51460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MAX_AUTONOMOUS_AMOUNT = 10,000 minor units.
Anything above auto-escalates.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447288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447288"/>
            <a:ext cx="54864" cy="132588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630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HUMAN APPROVAL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950208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refund.requested · payment.suspicious · unknown event
→ approval ticket, not action.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882896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4882896"/>
            <a:ext cx="54864" cy="132588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0657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IDEMPOTENCY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385816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every event_id logged. Duplicates return
status=duplicate without re-running tools.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11680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2011680"/>
            <a:ext cx="54864" cy="132588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194560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NO FABRICATION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514600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agent never invents status, link, or audit entry.
Tool outputs recorded as-returned.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3447288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3447288"/>
            <a:ext cx="54864" cy="132588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630168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AUDIT-FIRST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950208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write_audit_log called on every terminal status.
Append-only, indexable.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882896"/>
            <a:ext cx="5440680" cy="1325880"/>
          </a:xfrm>
          <a:prstGeom prst="roundRect">
            <a:avLst>
              <a:gd name="adj" fmla="val 5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72200" y="4882896"/>
            <a:ext cx="54864" cy="1325880"/>
          </a:xfrm>
          <a:prstGeom prst="rect">
            <a:avLst/>
          </a:prstGeom>
          <a:solidFill>
            <a:srgbClr val="E9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065776"/>
            <a:ext cx="5074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E93A3A"/>
                </a:solidFill>
                <a:latin typeface="JetBrains Mono"/>
              </a:rPr>
              <a:t>TOOL CLASSIFICATION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385816"/>
            <a:ext cx="50749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read · draft · write · dangerous.
Dangerous tools require policy clearance.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6EE79C"/>
                </a:solidFill>
                <a:latin typeface="JetBrains Mono"/>
              </a:rPr>
              <a:t>09  ·  EVALS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Nine deterministic evals. All passing.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1106424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#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19456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945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WHAT IT 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0" y="2194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8B99B5"/>
                </a:solidFill>
                <a:latin typeface="JetBrains Mono"/>
              </a:rPr>
              <a:t>STATUS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2468880"/>
            <a:ext cx="10607040" cy="5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4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26060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Failed Payment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2432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plan → tools → verify → audit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058400" y="2587752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0" y="2587752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962656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299923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99923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High-Value Refund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0175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threshold → approval ticket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58400" y="2980944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0" y="2980944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339242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339242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Duplicate Webhook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0" y="341071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idempotency · no replay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3374136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0" y="3374136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8B99B5"/>
                </a:solidFill>
                <a:latin typeface="JetBrains Mono"/>
              </a:rPr>
              <a:t>  duplicate  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749040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78561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378561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Suspicious Payment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0" y="380390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risk → human review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058400" y="3767328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58400" y="3767328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178808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80160" y="4178808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Unknown Event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0" y="4197096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fallback → escalate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058400" y="4160520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0" y="4160520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FFC06E"/>
                </a:solidFill>
                <a:latin typeface="JetBrains Mono"/>
              </a:rPr>
              <a:t>  escalated  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535424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572000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80160" y="45720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Transaction Lookup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0" y="459028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DOKU sandbox reconciliation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058400" y="4553712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0" y="4553712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496519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07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80160" y="4965192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Route Lockdown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4983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ops endpoints → 404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0058400" y="4946904"/>
            <a:ext cx="79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0" y="4946904"/>
            <a:ext cx="79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4DE6F0"/>
                </a:solidFill>
                <a:latin typeface="JetBrains Mono"/>
              </a:rPr>
              <a:t>  locked  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" y="5321808"/>
            <a:ext cx="10881360" cy="384048"/>
          </a:xfrm>
          <a:prstGeom prst="roundRect">
            <a:avLst>
              <a:gd name="adj" fmla="val 10000"/>
            </a:avLst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5358384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358384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Transaction Lookup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537667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deterministic full lifecycle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058400" y="5340096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058400" y="5340096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2960" y="5751576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JetBrains Mono"/>
              </a:rP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80160" y="5751576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E6ECF6"/>
                </a:solidFill>
                <a:latin typeface="Inter"/>
              </a:rPr>
              <a:t>Judge DOKU Payment Methods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0" y="57698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B99B5"/>
                </a:solidFill>
                <a:latin typeface="Inter"/>
              </a:rPr>
              <a:t>MCP read-only · redacted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0058400" y="5733288"/>
            <a:ext cx="1000000" cy="240000"/>
          </a:xfrm>
          <a:prstGeom prst="roundRect">
            <a:avLst>
              <a:gd name="adj" fmla="val 50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058400" y="5733288"/>
            <a:ext cx="1000000" cy="24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>
                <a:solidFill>
                  <a:srgbClr val="6EE79C"/>
                </a:solidFill>
                <a:latin typeface="JetBrains Mono"/>
              </a:rPr>
              <a:t>  completed  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164592" cy="164592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4DE6F0"/>
                </a:solidFill>
                <a:latin typeface="JetBrains Mono"/>
              </a:rPr>
              <a:t>10  · 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>
                <a:solidFill>
                  <a:srgbClr val="E6ECF6"/>
                </a:solidFill>
                <a:latin typeface="Inter"/>
              </a:rPr>
              <a:t>From hackathon MVP to merchant-grade agent.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0" cy="2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4DE6F0"/>
                </a:solidFill>
                <a:latin typeface="JetBrains Mono"/>
              </a:rPr>
              <a:t>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v0.1  ·  HACKATHON MVP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971800"/>
            <a:ext cx="548640" cy="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Deterministic 12-stage lifecycle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DOKU MCP sandbox integration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Judge mode with redacted traces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9 passing evals · file-backed state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201168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4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A97CFF"/>
                </a:solidFill>
                <a:latin typeface="JetBrains Mono"/>
              </a:rPr>
              <a:t>NEXT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v0.2  ·  PILOT WITH 1 MERCHANT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63440" y="2971800"/>
            <a:ext cx="548640" cy="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66344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Live mode behind explicit flags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66344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4632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Webhook signature validation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4632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SQLite state · richer dashboards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6344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4632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LLM-assisted planner (optional)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011680"/>
            <a:ext cx="3657600" cy="4206240"/>
          </a:xfrm>
          <a:prstGeom prst="roundRect">
            <a:avLst>
              <a:gd name="adj" fmla="val 4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9600" y="201168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03920" y="2240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6EE79C"/>
                </a:solidFill>
                <a:latin typeface="JetBrains Mono"/>
              </a:rPr>
              <a:t>LATER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251460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E6ECF6"/>
                </a:solidFill>
                <a:latin typeface="Inter"/>
              </a:rPr>
              <a:t>v1.0  ·  MERCHANT-GRADE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503920" y="2971800"/>
            <a:ext cx="548640" cy="8000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8503920" y="331927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86800" y="315468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Multi-merchant tenancy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03920" y="386791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800" y="37033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Approvals on Slack / Telegram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503920" y="441655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800" y="425196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Refund + dispute workflows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503920" y="4965192"/>
            <a:ext cx="54864" cy="54864"/>
          </a:xfrm>
          <a:prstGeom prst="roundRect">
            <a:avLst>
              <a:gd name="adj" fmla="val 50000"/>
            </a:avLst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800" y="48006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Policy editor for ops teams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LEDGERSOUL  ·  AUTONOMOUS PAYMENT OPERATIONS AGENT  ·  DOKU HACKATHON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644652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8B99B5"/>
                </a:solidFill>
                <a:latin typeface="JetBrains Mono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B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0"/>
            <a:ext cx="73152" cy="6858000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77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4DE6F0"/>
                </a:solidFill>
                <a:latin typeface="JetBrains Mono"/>
              </a:rPr>
              <a:t>12  ·  CLOSE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280160"/>
            <a:ext cx="1051560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800" b="1">
                <a:solidFill>
                  <a:srgbClr val="E6ECF6"/>
                </a:solidFill>
                <a:latin typeface="Inter"/>
              </a:rPr>
              <a:t>Make every payment event </a:t>
            </a:r>
            <a:r>
              <a:rPr sz="5800" b="1">
                <a:solidFill>
                  <a:srgbClr val="4DE6F0"/>
                </a:solidFill>
                <a:latin typeface="Inter"/>
              </a:rPr>
              <a:t>end well.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10896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>
                <a:solidFill>
                  <a:srgbClr val="8B99B5"/>
                </a:solidFill>
                <a:latin typeface="Inter"/>
              </a:rPr>
              <a:t>LedgerSoul gives DOKU merchants an autonomous operator that's deterministic, auditable, and safe by default — on top of the DOKU MCP Server they already have.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4846320"/>
            <a:ext cx="3657600" cy="54864"/>
          </a:xfrm>
          <a:prstGeom prst="rect">
            <a:avLst/>
          </a:prstGeom>
          <a:solidFill>
            <a:srgbClr val="4D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4DE6F0"/>
                </a:solidFill>
                <a:latin typeface="JetBrains Mono"/>
              </a:rPr>
              <a:t>PARTNER WITH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Co-design merchant pilots on the DOKU MCP server.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4846320"/>
            <a:ext cx="3657600" cy="54864"/>
          </a:xfrm>
          <a:prstGeom prst="rect">
            <a:avLst/>
          </a:prstGeom>
          <a:solidFill>
            <a:srgbClr val="A97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A97CFF"/>
                </a:solidFill>
                <a:latin typeface="JetBrains Mono"/>
              </a:rPr>
              <a:t>OPEN 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Expand sandbox tool access for write-class workflows.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4846320"/>
            <a:ext cx="3657600" cy="1325880"/>
          </a:xfrm>
          <a:prstGeom prst="roundRect">
            <a:avLst>
              <a:gd name="adj" fmla="val 6000"/>
            </a:avLst>
          </a:prstGeom>
          <a:solidFill>
            <a:srgbClr val="101828"/>
          </a:solidFill>
          <a:ln w="9525">
            <a:solidFill>
              <a:srgbClr val="2233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4846320"/>
            <a:ext cx="3657600" cy="54864"/>
          </a:xfrm>
          <a:prstGeom prst="rect">
            <a:avLst/>
          </a:prstGeom>
          <a:solidFill>
            <a:srgbClr val="6EE7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03920" y="502920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6EE79C"/>
                </a:solidFill>
                <a:latin typeface="JetBrains Mono"/>
              </a:rPr>
              <a:t>AMPLIFY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5349240"/>
            <a:ext cx="32004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E6ECF6"/>
                </a:solidFill>
                <a:latin typeface="Inter"/>
              </a:rPr>
              <a:t>Bring LedgerSoul into DOKU's merchant onboarding.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00800"/>
            <a:ext cx="11064240" cy="8000"/>
          </a:xfrm>
          <a:prstGeom prst="rect">
            <a:avLst/>
          </a:prstGeom>
          <a:solidFill>
            <a:srgbClr val="2233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49224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spc="400">
                <a:solidFill>
                  <a:srgbClr val="8B99B5"/>
                </a:solidFill>
                <a:latin typeface="JetBrains Mono"/>
              </a:rPr>
              <a:t>LEDGERSOUL  ·  AdrianSS · DOKU HACKATHON 2026  ·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