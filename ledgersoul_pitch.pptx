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8" r:id="rId19"/>
    <p:sldId id="269" r:id="rId20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73152" cy="6858000"/>
          </a:xfrm>
          <a:prstGeom prst="rect">
            <a:avLst/>
          </a:prstGeom>
          <a:solidFill>
            <a:srgbClr val="A9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766560" y="2286000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766560" y="2633472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766560" y="2980944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766560" y="3328416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766560" y="3675887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766560" y="4023360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0" y="4370832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766560" y="4718304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14032" y="2286000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14032" y="2633472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14032" y="2980944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114032" y="3328416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114032" y="3675887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14032" y="4023360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14032" y="4370832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114032" y="4718304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61504" y="2286000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61504" y="2633472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461504" y="2980944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61504" y="3328416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61504" y="3675887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461504" y="4023360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461504" y="4370832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61504" y="4718304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808976" y="2286000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808976" y="2633472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808976" y="2980944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808976" y="3328416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808976" y="3675887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808976" y="4023360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808976" y="4370832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808976" y="4718304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156448" y="2286000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156448" y="2633472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156448" y="2980944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156448" y="3328416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156448" y="3675887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156448" y="4023360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156448" y="4370832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156448" y="4718304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503920" y="2286000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503920" y="2633472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503920" y="2980944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503920" y="3328416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503920" y="3675887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503920" y="4023360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503920" y="4370832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503920" y="4718304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851392" y="2286000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851392" y="2633472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851392" y="2980944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851392" y="3328416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8851392" y="3675887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8851392" y="4023360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8851392" y="4370832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851392" y="4718304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9198864" y="2286000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9198864" y="2633472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9198864" y="2980944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198864" y="3328416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9198864" y="3675887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9198864" y="4023360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9198864" y="4370832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9198864" y="4718304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9546336" y="2286000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9546336" y="2633472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9546336" y="2980944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9546336" y="3328416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9546336" y="3675887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9546336" y="4023360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9546336" y="4370832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9546336" y="4718304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9893808" y="2286000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9893808" y="2633472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9893808" y="2980944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9893808" y="3328416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9893808" y="3675887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9893808" y="4023360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9893808" y="4370832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9893808" y="4718304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10241280" y="2286000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10241280" y="2633472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10241280" y="2980944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10241280" y="3328416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10241280" y="3675887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10241280" y="4023360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10241280" y="4370832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10241280" y="4718304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10588752" y="2286000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10588752" y="2633472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10588752" y="2980944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10588752" y="3328416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10588752" y="3675887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10588752" y="4023360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10588752" y="4370832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10588752" y="4718304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10936224" y="2286000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10936224" y="2633472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10936224" y="2980944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10936224" y="3328416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10936224" y="3675887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10936224" y="4023360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10936224" y="4370832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10936224" y="4718304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11283696" y="2286000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11283696" y="2633472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11283696" y="2980944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11283696" y="3328416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11283696" y="3675887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11283696" y="4023360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11283696" y="4370832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11283696" y="4718304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ounded Rectangle 116"/>
          <p:cNvSpPr/>
          <p:nvPr/>
        </p:nvSpPr>
        <p:spPr>
          <a:xfrm>
            <a:off x="822960" y="777240"/>
            <a:ext cx="2190000" cy="240000"/>
          </a:xfrm>
          <a:prstGeom prst="roundRect">
            <a:avLst>
              <a:gd name="adj" fmla="val 50000"/>
            </a:avLst>
          </a:prstGeom>
          <a:solidFill>
            <a:srgbClr val="1622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22960" y="777240"/>
            <a:ext cx="2190000" cy="2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4DE6F0"/>
                </a:solidFill>
                <a:latin typeface="JetBrains Mono"/>
              </a:rPr>
              <a:t> DOKU HACKATHON · AGENT TRACK 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22960" y="128016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spc="600">
                <a:solidFill>
                  <a:srgbClr val="8B99B5"/>
                </a:solidFill>
                <a:latin typeface="JetBrains Mono"/>
              </a:rPr>
              <a:t>LEDGERSOUL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22960" y="182880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800" b="1">
                <a:solidFill>
                  <a:srgbClr val="E6ECF6"/>
                </a:solidFill>
                <a:latin typeface="Inter"/>
              </a:rPr>
              <a:t>The autonomous </a:t>
            </a:r>
            <a:r>
              <a:rPr sz="5800" b="1">
                <a:solidFill>
                  <a:srgbClr val="4DE6F0"/>
                </a:solidFill>
                <a:latin typeface="Inter"/>
              </a:rPr>
              <a:t>payment ops agent</a:t>
            </a:r>
          </a:p>
          <a:p>
            <a:pPr algn="l">
              <a:lnSpc>
                <a:spcPct val="105000"/>
              </a:lnSpc>
            </a:pPr>
            <a:r>
              <a:rPr sz="5800" b="1">
                <a:solidFill>
                  <a:srgbClr val="E6ECF6"/>
                </a:solidFill>
                <a:latin typeface="Inter"/>
              </a:rPr>
              <a:t>for DOKU merchants.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22960" y="429768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8B99B5"/>
                </a:solidFill>
                <a:latin typeface="Inter"/>
              </a:rPr>
              <a:t>Observe → Plan → Verify → Audit. Every payment event ends in one of three states: resolved, safely pending, or escalated with context.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22960" y="5532120"/>
            <a:ext cx="10515600" cy="8000"/>
          </a:xfrm>
          <a:prstGeom prst="rect">
            <a:avLst/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22960" y="56692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4DE6F0"/>
                </a:solidFill>
                <a:latin typeface="JetBrains Mono"/>
              </a:rPr>
              <a:t>BUILT ON  ·  DOKU MCP SANDBOX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572000" y="56692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300">
                <a:solidFill>
                  <a:srgbClr val="8B99B5"/>
                </a:solidFill>
                <a:latin typeface="JetBrains Mono"/>
              </a:rPr>
              <a:t>STACK  ·  PYTHON · FASTAPI · DOCKER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595360" y="566928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300">
                <a:solidFill>
                  <a:srgbClr val="8B99B5"/>
                </a:solidFill>
                <a:latin typeface="JetBrains Mono"/>
              </a:rPr>
              <a:t>v0.1 · MAY 2026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00">
                <a:solidFill>
                  <a:srgbClr val="8B99B5"/>
                </a:solidFill>
                <a:latin typeface="JetBrains Mono"/>
              </a:rPr>
              <a:t>LEDGERSOUL  ·  AUTONOMOUS PAYMENT OPERATIONS AGENT  ·  DOKU HACKATHON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200">
                <a:solidFill>
                  <a:srgbClr val="8B99B5"/>
                </a:solidFill>
                <a:latin typeface="JetBrains Mono"/>
              </a:rPr>
              <a:t>01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4DE6F0"/>
                </a:solidFill>
                <a:latin typeface="JetBrains Mono"/>
              </a:rPr>
              <a:t>01  · 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E6ECF6"/>
                </a:solidFill>
                <a:latin typeface="Inter"/>
              </a:rPr>
              <a:t>Payment ops is a 24/7 firefight.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548640" cy="28000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8B99B5"/>
                </a:solidFill>
                <a:latin typeface="Inter"/>
              </a:rPr>
              <a:t>Every merchant on DOKU lives the same loop: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770632"/>
            <a:ext cx="73152" cy="457200"/>
          </a:xfrm>
          <a:prstGeom prst="rect">
            <a:avLst/>
          </a:prstGeom>
          <a:solidFill>
            <a:srgbClr val="E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060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6ECF6"/>
                </a:solidFill>
                <a:latin typeface="Inter"/>
              </a:rPr>
              <a:t>Failed payments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98648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8B99B5"/>
                </a:solidFill>
                <a:latin typeface="Inter"/>
              </a:rPr>
              <a:t>drop silently — recovery happens hours late, if at all.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639312"/>
            <a:ext cx="73152" cy="457200"/>
          </a:xfrm>
          <a:prstGeom prst="rect">
            <a:avLst/>
          </a:prstGeom>
          <a:solidFill>
            <a:srgbClr val="E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4747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6ECF6"/>
                </a:solidFill>
                <a:latin typeface="Inter"/>
              </a:rPr>
              <a:t>Suspicious charges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67328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8B99B5"/>
                </a:solidFill>
                <a:latin typeface="Inter"/>
              </a:rPr>
              <a:t>pile up in inboxes with no consistent triage.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507992"/>
            <a:ext cx="73152" cy="457200"/>
          </a:xfrm>
          <a:prstGeom prst="rect">
            <a:avLst/>
          </a:prstGeom>
          <a:solidFill>
            <a:srgbClr val="E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6ECF6"/>
                </a:solidFill>
                <a:latin typeface="Inter"/>
              </a:rPr>
              <a:t>Refund requests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636008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8B99B5"/>
                </a:solidFill>
                <a:latin typeface="Inter"/>
              </a:rPr>
              <a:t>get approved on gut feel, with no audit trail.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376672"/>
            <a:ext cx="73152" cy="457200"/>
          </a:xfrm>
          <a:prstGeom prst="rect">
            <a:avLst/>
          </a:prstGeom>
          <a:solidFill>
            <a:srgbClr val="E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2120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6ECF6"/>
                </a:solidFill>
                <a:latin typeface="Inter"/>
              </a:rPr>
              <a:t>Duplicate webhooks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504688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8B99B5"/>
                </a:solidFill>
                <a:latin typeface="Inter"/>
              </a:rPr>
              <a:t>re-trigger actions and corrupt reconciliation.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60" y="1920240"/>
            <a:ext cx="4846320" cy="4206240"/>
          </a:xfrm>
          <a:prstGeom prst="roundRect">
            <a:avLst>
              <a:gd name="adj" fmla="val 5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0" y="210312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4DE6F0"/>
                </a:solidFill>
                <a:latin typeface="JetBrains Mono"/>
              </a:rPr>
              <a:t>WHAT GOES WRONG TODAY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269748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4DE6F0"/>
                </a:solidFill>
                <a:latin typeface="Inter"/>
              </a:rPr>
              <a:t>Manual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2697480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E6ECF6"/>
                </a:solidFill>
                <a:latin typeface="Inter"/>
              </a:rPr>
              <a:t>ops staff copy-paste between dashboards, Slack, and email.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52044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4DE6F0"/>
                </a:solidFill>
                <a:latin typeface="Inter"/>
              </a:rPr>
              <a:t>Inconsistent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3520440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E6ECF6"/>
                </a:solidFill>
                <a:latin typeface="Inter"/>
              </a:rPr>
              <a:t>same event handled three different ways by three people.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34340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4DE6F0"/>
                </a:solidFill>
                <a:latin typeface="Inter"/>
              </a:rPr>
              <a:t>Unauditable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4343400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E6ECF6"/>
                </a:solidFill>
                <a:latin typeface="Inter"/>
              </a:rPr>
              <a:t>decisions live in DMs, not in a system of record.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51663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4DE6F0"/>
                </a:solidFill>
                <a:latin typeface="Inter"/>
              </a:rPr>
              <a:t>Risky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5166360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E6ECF6"/>
                </a:solidFill>
                <a:latin typeface="Inter"/>
              </a:rPr>
              <a:t>refunds and recovery links issued without policy checks.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00">
                <a:solidFill>
                  <a:srgbClr val="8B99B5"/>
                </a:solidFill>
                <a:latin typeface="JetBrains Mono"/>
              </a:rPr>
              <a:t>LEDGERSOUL  ·  AUTONOMOUS PAYMENT OPERATIONS AGENT  ·  DOKU HACKATHON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200">
                <a:solidFill>
                  <a:srgbClr val="8B99B5"/>
                </a:solidFill>
                <a:latin typeface="JetBrains Mono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4DE6F0"/>
                </a:solidFill>
                <a:latin typeface="JetBrains Mono"/>
              </a:rPr>
              <a:t>02  ·  THE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E6ECF6"/>
                </a:solidFill>
                <a:latin typeface="Inter"/>
              </a:rPr>
              <a:t>Payment ops isn't a chat problem.
It's a lifecycle problem.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548640" cy="28000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6766560" cy="3474720"/>
          </a:xfrm>
          <a:prstGeom prst="roundRect">
            <a:avLst>
              <a:gd name="adj" fmla="val 4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A97CFF"/>
                </a:solidFill>
                <a:latin typeface="JetBrains Mono"/>
              </a:rPr>
              <a:t>OUR 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63240"/>
            <a:ext cx="64008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6ECF6"/>
                </a:solidFill>
                <a:latin typeface="Inter"/>
              </a:rPr>
              <a:t>A useful agent isn't </a:t>
            </a:r>
            <a:r>
              <a:rPr sz="2600" b="1">
                <a:solidFill>
                  <a:srgbClr val="8B99B5"/>
                </a:solidFill>
                <a:latin typeface="Inter"/>
              </a:rPr>
              <a:t>"a chatbot with tools."</a:t>
            </a:r>
          </a:p>
          <a:p>
            <a:pPr algn="l">
              <a:lnSpc>
                <a:spcPct val="120000"/>
              </a:lnSpc>
            </a:pPr>
            <a:r>
              <a:rPr sz="2600" b="1">
                <a:solidFill>
                  <a:srgbClr val="E6ECF6"/>
                </a:solidFill>
                <a:latin typeface="Inter"/>
              </a:rPr>
              <a:t>It's a </a:t>
            </a:r>
            <a:r>
              <a:rPr sz="2600" b="1">
                <a:solidFill>
                  <a:srgbClr val="4DE6F0"/>
                </a:solidFill>
                <a:latin typeface="Inter"/>
              </a:rPr>
              <a:t>deterministic lifecycle</a:t>
            </a:r>
            <a:r>
              <a:rPr sz="2600" b="1">
                <a:solidFill>
                  <a:srgbClr val="E6ECF6"/>
                </a:solidFill>
                <a:latin typeface="Inter"/>
              </a:rPr>
              <a:t> with</a:t>
            </a:r>
          </a:p>
          <a:p>
            <a:pPr algn="l">
              <a:lnSpc>
                <a:spcPct val="120000"/>
              </a:lnSpc>
            </a:pPr>
            <a:r>
              <a:rPr sz="2600" b="1">
                <a:solidFill>
                  <a:srgbClr val="E6ECF6"/>
                </a:solidFill>
                <a:latin typeface="Inter"/>
              </a:rPr>
              <a:t>identity, planning, verification,</a:t>
            </a:r>
          </a:p>
          <a:p>
            <a:pPr algn="l">
              <a:lnSpc>
                <a:spcPct val="120000"/>
              </a:lnSpc>
            </a:pPr>
            <a:r>
              <a:rPr sz="2600" b="1">
                <a:solidFill>
                  <a:srgbClr val="E6ECF6"/>
                </a:solidFill>
                <a:latin typeface="Inter"/>
              </a:rPr>
              <a:t>memory, guardrails, and audit</a:t>
            </a:r>
            <a:r>
              <a:rPr sz="2600" b="1">
                <a:solidFill>
                  <a:srgbClr val="E6ECF6"/>
                </a:solidFill>
                <a:latin typeface="Inter"/>
              </a:rPr>
              <a:t> — every</a:t>
            </a:r>
          </a:p>
          <a:p>
            <a:pPr algn="l">
              <a:lnSpc>
                <a:spcPct val="120000"/>
              </a:lnSpc>
            </a:pPr>
            <a:r>
              <a:rPr sz="2600" b="1">
                <a:solidFill>
                  <a:srgbClr val="E6ECF6"/>
                </a:solidFill>
                <a:latin typeface="Inter"/>
              </a:rPr>
              <a:t>single run.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2468880"/>
            <a:ext cx="3931920" cy="777240"/>
          </a:xfrm>
          <a:prstGeom prst="roundRect">
            <a:avLst>
              <a:gd name="adj" fmla="val 10000"/>
            </a:avLst>
          </a:prstGeom>
          <a:solidFill>
            <a:srgbClr val="1622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45552" y="2633472"/>
            <a:ext cx="73152" cy="457200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5877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4DE6F0"/>
                </a:solidFill>
                <a:latin typeface="JetBrains Mono"/>
              </a:rPr>
              <a:t>IDENTITY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85292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6ECF6"/>
                </a:solidFill>
                <a:latin typeface="Inter"/>
              </a:rPr>
              <a:t>soul.md — purpose, values, refusals.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3337560"/>
            <a:ext cx="3931920" cy="777240"/>
          </a:xfrm>
          <a:prstGeom prst="roundRect">
            <a:avLst>
              <a:gd name="adj" fmla="val 10000"/>
            </a:avLst>
          </a:prstGeom>
          <a:solidFill>
            <a:srgbClr val="1622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45552" y="3502152"/>
            <a:ext cx="73152" cy="457200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34564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4DE6F0"/>
                </a:solidFill>
                <a:latin typeface="JetBrains Mono"/>
              </a:rPr>
              <a:t>LIFECYCLE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72160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6ECF6"/>
                </a:solidFill>
                <a:latin typeface="Inter"/>
              </a:rPr>
              <a:t>12 deterministic stages, every event.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4206240"/>
            <a:ext cx="3931920" cy="777240"/>
          </a:xfrm>
          <a:prstGeom prst="roundRect">
            <a:avLst>
              <a:gd name="adj" fmla="val 10000"/>
            </a:avLst>
          </a:prstGeom>
          <a:solidFill>
            <a:srgbClr val="1622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45552" y="4370832"/>
            <a:ext cx="73152" cy="457200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43251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4DE6F0"/>
                </a:solidFill>
                <a:latin typeface="JetBrains Mono"/>
              </a:rPr>
              <a:t>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459028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6ECF6"/>
                </a:solidFill>
                <a:latin typeface="Inter"/>
              </a:rPr>
              <a:t>every tool result is inspected.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80960" y="5074920"/>
            <a:ext cx="3931920" cy="777240"/>
          </a:xfrm>
          <a:prstGeom prst="roundRect">
            <a:avLst>
              <a:gd name="adj" fmla="val 10000"/>
            </a:avLst>
          </a:prstGeom>
          <a:solidFill>
            <a:srgbClr val="1622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45552" y="5239512"/>
            <a:ext cx="73152" cy="457200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51937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4DE6F0"/>
                </a:solidFill>
                <a:latin typeface="JetBrains Mono"/>
              </a:rPr>
              <a:t>AUDIT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545896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6ECF6"/>
                </a:solidFill>
                <a:latin typeface="Inter"/>
              </a:rPr>
              <a:t>one trace file per run. Always.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00">
                <a:solidFill>
                  <a:srgbClr val="8B99B5"/>
                </a:solidFill>
                <a:latin typeface="JetBrains Mono"/>
              </a:rPr>
              <a:t>LEDGERSOUL  ·  AUTONOMOUS PAYMENT OPERATIONS AGENT  ·  DOKU HACKATHON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200">
                <a:solidFill>
                  <a:srgbClr val="8B99B5"/>
                </a:solidFill>
                <a:latin typeface="JetBrains Mono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4DE6F0"/>
                </a:solidFill>
                <a:latin typeface="JetBrains Mono"/>
              </a:rPr>
              <a:t>03  ·  THE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E6ECF6"/>
                </a:solidFill>
                <a:latin typeface="Inter"/>
              </a:rPr>
              <a:t>LedgerSoul: an agent with a soul,
a contract, and an audit trail.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548640" cy="28000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3657600" cy="4206240"/>
          </a:xfrm>
          <a:prstGeom prst="roundRect">
            <a:avLst>
              <a:gd name="adj" fmla="val 4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3657600" cy="54864"/>
          </a:xfrm>
          <a:prstGeom prst="rect">
            <a:avLst/>
          </a:prstGeom>
          <a:solidFill>
            <a:srgbClr val="A9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300">
                <a:solidFill>
                  <a:srgbClr val="A97CFF"/>
                </a:solidFill>
                <a:latin typeface="JetBrains Mono"/>
              </a:rPr>
              <a:t>THE SOUL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146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B99B5"/>
                </a:solidFill>
                <a:latin typeface="JetBrains Mono"/>
              </a:rPr>
              <a:t>soul.md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255264"/>
            <a:ext cx="54864" cy="54864"/>
          </a:xfrm>
          <a:prstGeom prst="roundRect">
            <a:avLst>
              <a:gd name="adj" fmla="val 50000"/>
            </a:avLst>
          </a:prstGeom>
          <a:solidFill>
            <a:srgbClr val="A9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1089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Calm, precise, cautious.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803904"/>
            <a:ext cx="54864" cy="54864"/>
          </a:xfrm>
          <a:prstGeom prst="roundRect">
            <a:avLst>
              <a:gd name="adj" fmla="val 50000"/>
            </a:avLst>
          </a:prstGeom>
          <a:solidFill>
            <a:srgbClr val="A9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6576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Refuses to fabricate status.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352544"/>
            <a:ext cx="54864" cy="54864"/>
          </a:xfrm>
          <a:prstGeom prst="roundRect">
            <a:avLst>
              <a:gd name="adj" fmla="val 50000"/>
            </a:avLst>
          </a:prstGeom>
          <a:solidFill>
            <a:srgbClr val="A9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2062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Refuses to skip audit logging.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901184"/>
            <a:ext cx="54864" cy="54864"/>
          </a:xfrm>
          <a:prstGeom prst="roundRect">
            <a:avLst>
              <a:gd name="adj" fmla="val 50000"/>
            </a:avLst>
          </a:prstGeom>
          <a:solidFill>
            <a:srgbClr val="A9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7548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Escalates instead of guessing.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2011680"/>
            <a:ext cx="3657600" cy="4206240"/>
          </a:xfrm>
          <a:prstGeom prst="roundRect">
            <a:avLst>
              <a:gd name="adj" fmla="val 4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0" y="2011680"/>
            <a:ext cx="3657600" cy="54864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21945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300">
                <a:solidFill>
                  <a:srgbClr val="4DE6F0"/>
                </a:solidFill>
                <a:latin typeface="JetBrains Mono"/>
              </a:rPr>
              <a:t>THE CONTRACT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25146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B99B5"/>
                </a:solidFill>
                <a:latin typeface="JetBrains Mono"/>
              </a:rPr>
              <a:t>agent.md + lifecycle.md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63440" y="3255264"/>
            <a:ext cx="54864" cy="54864"/>
          </a:xfrm>
          <a:prstGeom prst="roundRect">
            <a:avLst>
              <a:gd name="adj" fmla="val 50000"/>
            </a:avLst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31089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12-stage deterministic loop.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3440" y="3803904"/>
            <a:ext cx="54864" cy="54864"/>
          </a:xfrm>
          <a:prstGeom prst="roundRect">
            <a:avLst>
              <a:gd name="adj" fmla="val 50000"/>
            </a:avLst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36576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Validate → plan → verify → reflect.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63440" y="4352544"/>
            <a:ext cx="54864" cy="54864"/>
          </a:xfrm>
          <a:prstGeom prst="roundRect">
            <a:avLst>
              <a:gd name="adj" fmla="val 50000"/>
            </a:avLst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2062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Status: completed · escalated · duplicate · blocked.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63440" y="4901184"/>
            <a:ext cx="54864" cy="54864"/>
          </a:xfrm>
          <a:prstGeom prst="roundRect">
            <a:avLst>
              <a:gd name="adj" fmla="val 50000"/>
            </a:avLst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0" y="47548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Every event ends in exactly one state.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2011680"/>
            <a:ext cx="3657600" cy="4206240"/>
          </a:xfrm>
          <a:prstGeom prst="roundRect">
            <a:avLst>
              <a:gd name="adj" fmla="val 4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0" y="2011680"/>
            <a:ext cx="3657600" cy="54864"/>
          </a:xfrm>
          <a:prstGeom prst="rect">
            <a:avLst/>
          </a:prstGeom>
          <a:solidFill>
            <a:srgbClr val="6EE7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0" y="21945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300">
                <a:solidFill>
                  <a:srgbClr val="6EE79C"/>
                </a:solidFill>
                <a:latin typeface="JetBrains Mono"/>
              </a:rPr>
              <a:t>THE TRAIL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25146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B99B5"/>
                </a:solidFill>
                <a:latin typeface="JetBrains Mono"/>
              </a:rPr>
              <a:t>traces/ + audit_log.jsonl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03920" y="3255264"/>
            <a:ext cx="54864" cy="54864"/>
          </a:xfrm>
          <a:prstGeom prst="roundRect">
            <a:avLst>
              <a:gd name="adj" fmla="val 50000"/>
            </a:avLst>
          </a:prstGeom>
          <a:solidFill>
            <a:srgbClr val="6EE7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0" y="31089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One JSON trace per run.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3920" y="3803904"/>
            <a:ext cx="54864" cy="54864"/>
          </a:xfrm>
          <a:prstGeom prst="roundRect">
            <a:avLst>
              <a:gd name="adj" fmla="val 50000"/>
            </a:avLst>
          </a:prstGeom>
          <a:solidFill>
            <a:srgbClr val="6EE7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0" y="36576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Append-only audit log.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503920" y="4352544"/>
            <a:ext cx="54864" cy="54864"/>
          </a:xfrm>
          <a:prstGeom prst="roundRect">
            <a:avLst>
              <a:gd name="adj" fmla="val 50000"/>
            </a:avLst>
          </a:prstGeom>
          <a:solidFill>
            <a:srgbClr val="6EE7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0" y="42062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Pending approvals queue.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503920" y="4901184"/>
            <a:ext cx="54864" cy="54864"/>
          </a:xfrm>
          <a:prstGeom prst="roundRect">
            <a:avLst>
              <a:gd name="adj" fmla="val 50000"/>
            </a:avLst>
          </a:prstGeom>
          <a:solidFill>
            <a:srgbClr val="6EE7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0" y="47548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Idempotency log per event_id.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00">
                <a:solidFill>
                  <a:srgbClr val="8B99B5"/>
                </a:solidFill>
                <a:latin typeface="JetBrains Mono"/>
              </a:rPr>
              <a:t>LEDGERSOUL  ·  AUTONOMOUS PAYMENT OPERATIONS AGENT  ·  DOKU HACKATHON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200">
                <a:solidFill>
                  <a:srgbClr val="8B99B5"/>
                </a:solidFill>
                <a:latin typeface="JetBrains Mono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4DE6F0"/>
                </a:solidFill>
                <a:latin typeface="JetBrains Mono"/>
              </a:rPr>
              <a:t>04  ·  HOW IT THINKS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E6ECF6"/>
                </a:solidFill>
                <a:latin typeface="Inter"/>
              </a:rPr>
              <a:t>A 12-stage lifecycle. Same loop, every event.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548640" cy="28000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1828800" cy="36576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4DE6F0"/>
                </a:solidFill>
                <a:latin typeface="JetBrains Mon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95728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6ECF6"/>
                </a:solidFill>
                <a:latin typeface="Inter"/>
              </a:rPr>
              <a:t>BOOT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50592" y="20116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50592" y="2011680"/>
            <a:ext cx="1828800" cy="36576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21488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4DE6F0"/>
                </a:solidFill>
                <a:latin typeface="JetBrains Mon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33472" y="2395728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6ECF6"/>
                </a:solidFill>
                <a:latin typeface="Inter"/>
              </a:rPr>
              <a:t>OBSERVE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2544" y="20116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52544" y="2011680"/>
            <a:ext cx="1828800" cy="36576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1488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4DE6F0"/>
                </a:solidFill>
                <a:latin typeface="JetBrains Mono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395728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6ECF6"/>
                </a:solidFill>
                <a:latin typeface="Inter"/>
              </a:rPr>
              <a:t>VALIDATE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4496" y="20116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2011680"/>
            <a:ext cx="1828800" cy="36576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37376" y="21488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4DE6F0"/>
                </a:solidFill>
                <a:latin typeface="JetBrains Mono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2395728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6ECF6"/>
                </a:solidFill>
                <a:latin typeface="Inter"/>
              </a:rPr>
              <a:t>IDEMPOTENCY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56448" y="20116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56448" y="2011680"/>
            <a:ext cx="1828800" cy="36576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9328" y="21488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4DE6F0"/>
                </a:solidFill>
                <a:latin typeface="JetBrains Mono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2395728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6ECF6"/>
                </a:solidFill>
                <a:latin typeface="Inter"/>
              </a:rPr>
              <a:t>INTERPRET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0" y="20116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058400" y="2011680"/>
            <a:ext cx="1828800" cy="36576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41280" y="21488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4DE6F0"/>
                </a:solidFill>
                <a:latin typeface="JetBrains Mono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2395728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6ECF6"/>
                </a:solidFill>
                <a:latin typeface="Inter"/>
              </a:rPr>
              <a:t>PLAN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3090672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3090672"/>
            <a:ext cx="1828800" cy="36576"/>
          </a:xfrm>
          <a:prstGeom prst="rect">
            <a:avLst/>
          </a:prstGeom>
          <a:solidFill>
            <a:srgbClr val="A9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32278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A97CFF"/>
                </a:solidFill>
                <a:latin typeface="JetBrains Mono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347472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6ECF6"/>
                </a:solidFill>
                <a:latin typeface="Inter"/>
              </a:rPr>
              <a:t>POLICY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450592" y="3090672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450592" y="3090672"/>
            <a:ext cx="1828800" cy="36576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33472" y="32278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4DE6F0"/>
                </a:solidFill>
                <a:latin typeface="JetBrains Mono"/>
              </a:rP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33472" y="347472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6ECF6"/>
                </a:solidFill>
                <a:latin typeface="Inter"/>
              </a:rPr>
              <a:t>ACT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52544" y="3090672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52544" y="3090672"/>
            <a:ext cx="1828800" cy="36576"/>
          </a:xfrm>
          <a:prstGeom prst="rect">
            <a:avLst/>
          </a:prstGeom>
          <a:solidFill>
            <a:srgbClr val="A9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35424" y="32278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A97CFF"/>
                </a:solidFill>
                <a:latin typeface="JetBrains Mono"/>
              </a:rPr>
              <a:t>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35424" y="347472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6ECF6"/>
                </a:solidFill>
                <a:latin typeface="Inter"/>
              </a:rPr>
              <a:t>VERIFY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54496" y="3090672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54496" y="3090672"/>
            <a:ext cx="1828800" cy="36576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37376" y="32278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4DE6F0"/>
                </a:solidFill>
                <a:latin typeface="JetBrains Mono"/>
              </a:rPr>
              <a:t>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37376" y="347472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6ECF6"/>
                </a:solidFill>
                <a:latin typeface="Inter"/>
              </a:rPr>
              <a:t>REMEMBER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156448" y="3090672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156448" y="3090672"/>
            <a:ext cx="1828800" cy="36576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39328" y="32278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4DE6F0"/>
                </a:solidFill>
                <a:latin typeface="JetBrains Mono"/>
              </a:rPr>
              <a:t>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39328" y="347472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6ECF6"/>
                </a:solidFill>
                <a:latin typeface="Inter"/>
              </a:rPr>
              <a:t>REFLECT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058400" y="3090672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058400" y="3090672"/>
            <a:ext cx="1828800" cy="36576"/>
          </a:xfrm>
          <a:prstGeom prst="rect">
            <a:avLst/>
          </a:prstGeom>
          <a:solidFill>
            <a:srgbClr val="A9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241280" y="32278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A97CFF"/>
                </a:solidFill>
                <a:latin typeface="JetBrains Mono"/>
              </a:rPr>
              <a:t>12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41280" y="347472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6ECF6"/>
                </a:solidFill>
                <a:latin typeface="Inter"/>
              </a:rPr>
              <a:t>STOP / ESCALATE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4251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spc="200">
                <a:solidFill>
                  <a:srgbClr val="8B99B5"/>
                </a:solidFill>
                <a:latin typeface="JetBrains Mono"/>
              </a:rPr>
              <a:t>▸  one of six terminal states  ·  always with a trace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48640" y="4709160"/>
            <a:ext cx="1091000" cy="264000"/>
          </a:xfrm>
          <a:prstGeom prst="roundRect">
            <a:avLst>
              <a:gd name="adj" fmla="val 50000"/>
            </a:avLst>
          </a:prstGeom>
          <a:solidFill>
            <a:srgbClr val="1622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4709160"/>
            <a:ext cx="1091000" cy="26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6EE79C"/>
                </a:solidFill>
                <a:latin typeface="JetBrains Mono"/>
              </a:rPr>
              <a:t> ● completed 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776800" y="4709160"/>
            <a:ext cx="1091000" cy="264000"/>
          </a:xfrm>
          <a:prstGeom prst="roundRect">
            <a:avLst>
              <a:gd name="adj" fmla="val 50000"/>
            </a:avLst>
          </a:prstGeom>
          <a:solidFill>
            <a:srgbClr val="1622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776800" y="4709160"/>
            <a:ext cx="1091000" cy="26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C06E"/>
                </a:solidFill>
                <a:latin typeface="JetBrains Mono"/>
              </a:rPr>
              <a:t> ● escalated 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004960" y="4709160"/>
            <a:ext cx="1091000" cy="264000"/>
          </a:xfrm>
          <a:prstGeom prst="roundRect">
            <a:avLst>
              <a:gd name="adj" fmla="val 50000"/>
            </a:avLst>
          </a:prstGeom>
          <a:solidFill>
            <a:srgbClr val="1622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004960" y="4709160"/>
            <a:ext cx="1091000" cy="26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8B99B5"/>
                </a:solidFill>
                <a:latin typeface="JetBrains Mono"/>
              </a:rPr>
              <a:t> ● duplicate 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233120" y="4709160"/>
            <a:ext cx="937000" cy="264000"/>
          </a:xfrm>
          <a:prstGeom prst="roundRect">
            <a:avLst>
              <a:gd name="adj" fmla="val 50000"/>
            </a:avLst>
          </a:prstGeom>
          <a:solidFill>
            <a:srgbClr val="1622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233120" y="4709160"/>
            <a:ext cx="937000" cy="26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C06E"/>
                </a:solidFill>
                <a:latin typeface="JetBrains Mono"/>
              </a:rPr>
              <a:t> ● blocked 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307280" y="4709160"/>
            <a:ext cx="1861000" cy="264000"/>
          </a:xfrm>
          <a:prstGeom prst="roundRect">
            <a:avLst>
              <a:gd name="adj" fmla="val 50000"/>
            </a:avLst>
          </a:prstGeom>
          <a:solidFill>
            <a:srgbClr val="1622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307280" y="4709160"/>
            <a:ext cx="1861000" cy="26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E93A3A"/>
                </a:solidFill>
                <a:latin typeface="JetBrains Mono"/>
              </a:rPr>
              <a:t> ● failed_verification 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305440" y="4709160"/>
            <a:ext cx="783000" cy="264000"/>
          </a:xfrm>
          <a:prstGeom prst="roundRect">
            <a:avLst>
              <a:gd name="adj" fmla="val 50000"/>
            </a:avLst>
          </a:prstGeom>
          <a:solidFill>
            <a:srgbClr val="1622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05440" y="4709160"/>
            <a:ext cx="783000" cy="26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E93A3A"/>
                </a:solidFill>
                <a:latin typeface="JetBrains Mono"/>
              </a:rPr>
              <a:t> ● error 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48640" y="5577840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77240" y="568756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4DE6F0"/>
                </a:solidFill>
                <a:latin typeface="JetBrains Mono"/>
              </a:rPr>
              <a:t>Trace guarantee: </a:t>
            </a:r>
            <a:r>
              <a:rPr sz="1200" b="0">
                <a:solidFill>
                  <a:srgbClr val="E6ECF6"/>
                </a:solidFill>
                <a:latin typeface="Inter"/>
              </a:rPr>
              <a:t>every run writes exactly one </a:t>
            </a:r>
            <a:r>
              <a:rPr sz="1200" b="0">
                <a:solidFill>
                  <a:srgbClr val="6EE79C"/>
                </a:solidFill>
                <a:latin typeface="JetBrains Mono"/>
              </a:rPr>
              <a:t>traces/&lt;event_id&gt;-&lt;timestamp&gt;.json</a:t>
            </a:r>
            <a:r>
              <a:rPr sz="1200" b="0">
                <a:solidFill>
                  <a:srgbClr val="E6ECF6"/>
                </a:solidFill>
                <a:latin typeface="Inter"/>
              </a:rPr>
              <a:t> — including failures.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00">
                <a:solidFill>
                  <a:srgbClr val="8B99B5"/>
                </a:solidFill>
                <a:latin typeface="JetBrains Mono"/>
              </a:rPr>
              <a:t>LEDGERSOUL  ·  AUTONOMOUS PAYMENT OPERATIONS AGENT  ·  DOKU HACKATHON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200">
                <a:solidFill>
                  <a:srgbClr val="8B99B5"/>
                </a:solidFill>
                <a:latin typeface="JetBrains Mono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4DE6F0"/>
                </a:solidFill>
                <a:latin typeface="JetBrains Mono"/>
              </a:rPr>
              <a:t>05  · 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E6ECF6"/>
                </a:solidFill>
                <a:latin typeface="Inter"/>
              </a:rPr>
              <a:t>Small, deterministic, file-backed runtime.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548640" cy="28000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2468880" cy="1920240"/>
          </a:xfrm>
          <a:prstGeom prst="roundRect">
            <a:avLst>
              <a:gd name="adj" fmla="val 5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54864" cy="1920240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7627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4DE6F0"/>
                </a:solidFill>
                <a:latin typeface="JetBrains Mono"/>
              </a:rPr>
              <a:t>INPUTS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6ECF6"/>
                </a:solidFill>
                <a:latin typeface="Inter"/>
              </a:rPr>
              <a:t>POST /agent/run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4378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6ECF6"/>
                </a:solidFill>
                <a:latin typeface="Inter"/>
              </a:rPr>
              <a:t>POST /webhooks/payment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7296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6ECF6"/>
                </a:solidFill>
                <a:latin typeface="Inter"/>
              </a:rPr>
              <a:t>CLI scenario 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02152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6ECF6"/>
                </a:solidFill>
                <a:latin typeface="Inter"/>
              </a:rPr>
              <a:t>GET  /judge runs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2011680"/>
            <a:ext cx="5212080" cy="4023360"/>
          </a:xfrm>
          <a:prstGeom prst="roundRect">
            <a:avLst>
              <a:gd name="adj" fmla="val 4000"/>
            </a:avLst>
          </a:prstGeom>
          <a:solidFill>
            <a:srgbClr val="16223A"/>
          </a:solidFill>
          <a:ln w="12700">
            <a:solidFill>
              <a:srgbClr val="4D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21488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300">
                <a:solidFill>
                  <a:srgbClr val="4DE6F0"/>
                </a:solidFill>
                <a:latin typeface="JetBrains Mono"/>
              </a:rPr>
              <a:t>AGENT RUNTIME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0440" y="2606040"/>
            <a:ext cx="4754880" cy="502920"/>
          </a:xfrm>
          <a:prstGeom prst="roundRect">
            <a:avLst>
              <a:gd name="adj" fmla="val 15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11880" y="2724912"/>
            <a:ext cx="54864" cy="274320"/>
          </a:xfrm>
          <a:prstGeom prst="rect">
            <a:avLst/>
          </a:prstGeom>
          <a:solidFill>
            <a:srgbClr val="A9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94760" y="267004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6ECF6"/>
                </a:solidFill>
                <a:latin typeface="Inter"/>
              </a:rPr>
              <a:t>Planner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120" y="26974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99B5"/>
                </a:solidFill>
                <a:latin typeface="JetBrains Mono"/>
              </a:rPr>
              <a:t>deterministic event → plan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20440" y="3154680"/>
            <a:ext cx="4754880" cy="502920"/>
          </a:xfrm>
          <a:prstGeom prst="roundRect">
            <a:avLst>
              <a:gd name="adj" fmla="val 15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11880" y="3273552"/>
            <a:ext cx="54864" cy="274320"/>
          </a:xfrm>
          <a:prstGeom prst="rect">
            <a:avLst/>
          </a:prstGeom>
          <a:solidFill>
            <a:srgbClr val="A9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94760" y="321868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6ECF6"/>
                </a:solidFill>
                <a:latin typeface="Inter"/>
              </a:rPr>
              <a:t>Policies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32461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99B5"/>
                </a:solidFill>
                <a:latin typeface="JetBrains Mono"/>
              </a:rPr>
              <a:t>thresholds &amp; escalation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20440" y="3703320"/>
            <a:ext cx="4754880" cy="502920"/>
          </a:xfrm>
          <a:prstGeom prst="roundRect">
            <a:avLst>
              <a:gd name="adj" fmla="val 15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11880" y="3822192"/>
            <a:ext cx="54864" cy="274320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94760" y="376732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6ECF6"/>
                </a:solidFill>
                <a:latin typeface="Inter"/>
              </a:rPr>
              <a:t>Executor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3794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99B5"/>
                </a:solidFill>
                <a:latin typeface="JetBrains Mono"/>
              </a:rPr>
              <a:t>runs tools via TOOL_REGISTRY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20440" y="4251960"/>
            <a:ext cx="4754880" cy="502920"/>
          </a:xfrm>
          <a:prstGeom prst="roundRect">
            <a:avLst>
              <a:gd name="adj" fmla="val 15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11880" y="4370832"/>
            <a:ext cx="54864" cy="274320"/>
          </a:xfrm>
          <a:prstGeom prst="rect">
            <a:avLst/>
          </a:prstGeom>
          <a:solidFill>
            <a:srgbClr val="6EE7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94760" y="431596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6ECF6"/>
                </a:solidFill>
                <a:latin typeface="Inter"/>
              </a:rPr>
              <a:t>Verifier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20" y="4343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99B5"/>
                </a:solidFill>
                <a:latin typeface="JetBrains Mono"/>
              </a:rPr>
              <a:t>checks every tool result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20440" y="4800600"/>
            <a:ext cx="4754880" cy="502920"/>
          </a:xfrm>
          <a:prstGeom prst="roundRect">
            <a:avLst>
              <a:gd name="adj" fmla="val 15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11880" y="4919472"/>
            <a:ext cx="54864" cy="274320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94760" y="486460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6ECF6"/>
                </a:solidFill>
                <a:latin typeface="Inter"/>
              </a:rPr>
              <a:t>Reflection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32120" y="48920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99B5"/>
                </a:solidFill>
                <a:latin typeface="JetBrains Mono"/>
              </a:rPr>
              <a:t>structured run summary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520440" y="5349240"/>
            <a:ext cx="4754880" cy="502920"/>
          </a:xfrm>
          <a:prstGeom prst="roundRect">
            <a:avLst>
              <a:gd name="adj" fmla="val 15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11880" y="5468112"/>
            <a:ext cx="54864" cy="274320"/>
          </a:xfrm>
          <a:prstGeom prst="rect">
            <a:avLst/>
          </a:prstGeom>
          <a:solidFill>
            <a:srgbClr val="FFC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94760" y="541324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6ECF6"/>
                </a:solidFill>
                <a:latin typeface="Inter"/>
              </a:rPr>
              <a:t>Memory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32120" y="54406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99B5"/>
                </a:solidFill>
                <a:latin typeface="JetBrains Mono"/>
              </a:rPr>
              <a:t>JSON / JSONL persistence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778240" y="2011680"/>
            <a:ext cx="2834640" cy="1920240"/>
          </a:xfrm>
          <a:prstGeom prst="roundRect">
            <a:avLst>
              <a:gd name="adj" fmla="val 5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778240" y="2011680"/>
            <a:ext cx="54864" cy="1920240"/>
          </a:xfrm>
          <a:prstGeom prst="rect">
            <a:avLst/>
          </a:prstGeom>
          <a:solidFill>
            <a:srgbClr val="A9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06840" y="217627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A97CFF"/>
                </a:solidFill>
                <a:latin typeface="JetBrains Mono"/>
              </a:rPr>
              <a:t>TOOLS (TOOL_REGISTRY)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06840" y="251460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6ECF6"/>
                </a:solidFill>
                <a:latin typeface="Inter"/>
              </a:rPr>
              <a:t>check_payment_status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06840" y="2843784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6ECF6"/>
                </a:solidFill>
                <a:latin typeface="Inter"/>
              </a:rPr>
              <a:t>create_recovery_link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06840" y="3172968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6ECF6"/>
                </a:solidFill>
                <a:latin typeface="Inter"/>
              </a:rPr>
              <a:t>get_transaction_by_invoice_number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06840" y="350215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6ECF6"/>
                </a:solidFill>
                <a:latin typeface="Inter"/>
              </a:rPr>
              <a:t>draft_customer_message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06840" y="3831336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6ECF6"/>
                </a:solidFill>
                <a:latin typeface="Inter"/>
              </a:rPr>
              <a:t>create_approval_request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06840" y="41605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6ECF6"/>
                </a:solidFill>
                <a:latin typeface="Inter"/>
              </a:rPr>
              <a:t>write_audit_log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06840" y="4489704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6ECF6"/>
                </a:solidFill>
                <a:latin typeface="Inter"/>
              </a:rPr>
              <a:t>list_doku_mcp_tools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06840" y="4818888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6ECF6"/>
                </a:solidFill>
                <a:latin typeface="Inter"/>
              </a:rPr>
              <a:t>call_doku_mcp_tool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778240" y="4114800"/>
            <a:ext cx="2834640" cy="1920240"/>
          </a:xfrm>
          <a:prstGeom prst="roundRect">
            <a:avLst>
              <a:gd name="adj" fmla="val 5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778240" y="4114800"/>
            <a:ext cx="54864" cy="1920240"/>
          </a:xfrm>
          <a:prstGeom prst="rect">
            <a:avLst/>
          </a:prstGeom>
          <a:solidFill>
            <a:srgbClr val="6EE7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06840" y="427939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6EE79C"/>
                </a:solidFill>
                <a:latin typeface="JetBrains Mono"/>
              </a:rPr>
              <a:t>STATE  (state/ + traces/)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06840" y="46177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6ECF6"/>
                </a:solidFill>
                <a:latin typeface="Inter"/>
              </a:rPr>
              <a:t>processed_events.jsonl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06840" y="4946904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6ECF6"/>
                </a:solidFill>
                <a:latin typeface="Inter"/>
              </a:rPr>
              <a:t>audit_log.jsonl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06840" y="5276088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6ECF6"/>
                </a:solidFill>
                <a:latin typeface="Inter"/>
              </a:rPr>
              <a:t>memory.jsonl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06840" y="560527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6ECF6"/>
                </a:solidFill>
                <a:latin typeface="Inter"/>
              </a:rPr>
              <a:t>pending_approvals.jsonl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06840" y="5934456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6ECF6"/>
                </a:solidFill>
                <a:latin typeface="Inter"/>
              </a:rPr>
              <a:t>traces/&lt;event_id&gt;-&lt;ts&gt;.json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3017520" y="3017520"/>
            <a:ext cx="274320" cy="0"/>
          </a:xfrm>
          <a:prstGeom prst="line">
            <a:avLst/>
          </a:prstGeom>
          <a:ln w="19050">
            <a:solidFill>
              <a:srgbClr val="4D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8503920" y="3017520"/>
            <a:ext cx="274320" cy="0"/>
          </a:xfrm>
          <a:prstGeom prst="line">
            <a:avLst/>
          </a:prstGeom>
          <a:ln w="19050">
            <a:solidFill>
              <a:srgbClr val="4D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8503920" y="5029200"/>
            <a:ext cx="274320" cy="0"/>
          </a:xfrm>
          <a:prstGeom prst="line">
            <a:avLst/>
          </a:prstGeom>
          <a:ln w="19050">
            <a:solidFill>
              <a:srgbClr val="6EE7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00">
                <a:solidFill>
                  <a:srgbClr val="8B99B5"/>
                </a:solidFill>
                <a:latin typeface="JetBrains Mono"/>
              </a:rPr>
              <a:t>LEDGERSOUL  ·  AUTONOMOUS PAYMENT OPERATIONS AGENT  ·  DOKU HACKATHON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200">
                <a:solidFill>
                  <a:srgbClr val="8B99B5"/>
                </a:solidFill>
                <a:latin typeface="JetBrains Mono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E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E93A3A"/>
                </a:solidFill>
                <a:latin typeface="JetBrains Mono"/>
              </a:rPr>
              <a:t>06  ·  DOKU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E6ECF6"/>
                </a:solidFill>
                <a:latin typeface="Inter"/>
              </a:rPr>
              <a:t>First-class on the DOKU MCP Server.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548640" cy="28000"/>
          </a:xfrm>
          <a:prstGeom prst="rect">
            <a:avLst/>
          </a:prstGeom>
          <a:solidFill>
            <a:srgbClr val="E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6400800" cy="4206240"/>
          </a:xfrm>
          <a:prstGeom prst="roundRect">
            <a:avLst>
              <a:gd name="adj" fmla="val 4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E93A3A"/>
                </a:solidFill>
                <a:latin typeface="JetBrains Mono"/>
              </a:rPr>
              <a:t>WIRED TO THE SANDBOX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0604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DE6F0"/>
                </a:solidFill>
                <a:latin typeface="JetBrains Mono"/>
              </a:rPr>
              <a:t>PAYMENT_PROVIDER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6060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6ECF6"/>
                </a:solidFill>
                <a:latin typeface="JetBrains Mono"/>
              </a:rPr>
              <a:t>= doku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16936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DE6F0"/>
                </a:solidFill>
                <a:latin typeface="JetBrains Mono"/>
              </a:rPr>
              <a:t>PAYMENT_API_MODE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916936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6ECF6"/>
                </a:solidFill>
                <a:latin typeface="JetBrains Mono"/>
              </a:rPr>
              <a:t>= sandbox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2783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DE6F0"/>
                </a:solidFill>
                <a:latin typeface="JetBrains Mono"/>
              </a:rPr>
              <a:t>DOKU_MCP_URL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3227832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6ECF6"/>
                </a:solidFill>
                <a:latin typeface="JetBrains Mono"/>
              </a:rPr>
              <a:t>= https://api-sandbox.doku.com/doku-mcp-server/mcp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3872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DE6F0"/>
                </a:solidFill>
                <a:latin typeface="JetBrains Mono"/>
              </a:rPr>
              <a:t>DOKU_CLIENT_ID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53872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6ECF6"/>
                </a:solidFill>
                <a:latin typeface="JetBrains Mono"/>
              </a:rPr>
              <a:t>= &lt;brand id&gt;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49624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DE6F0"/>
                </a:solidFill>
                <a:latin typeface="JetBrains Mono"/>
              </a:rPr>
              <a:t>DOKU_API_KEY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3849624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6ECF6"/>
                </a:solidFill>
                <a:latin typeface="JetBrains Mono"/>
              </a:rPr>
              <a:t>= &lt;api key&gt;           # → Basic &lt;b64(api_key:)&gt;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434840"/>
            <a:ext cx="5852160" cy="8000"/>
          </a:xfrm>
          <a:prstGeom prst="rect">
            <a:avLst/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57200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4DE6F0"/>
                </a:solidFill>
                <a:latin typeface="JetBrains Mono"/>
              </a:rPr>
              <a:t>TWO EXPLICIT MCP 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937760"/>
            <a:ext cx="5943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1">
                <a:solidFill>
                  <a:srgbClr val="6EE79C"/>
                </a:solidFill>
                <a:latin typeface="JetBrains Mono"/>
              </a:rPr>
              <a:t>list_doku_mcp_tools</a:t>
            </a:r>
            <a:r>
              <a:rPr sz="1200" b="0">
                <a:solidFill>
                  <a:srgbClr val="E6ECF6"/>
                </a:solidFill>
                <a:latin typeface="Inter"/>
              </a:rPr>
              <a:t>  · initialize MCP, enumerate remote tools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6EE79C"/>
                </a:solidFill>
                <a:latin typeface="JetBrains Mono"/>
              </a:rPr>
              <a:t>call_doku_mcp_tool</a:t>
            </a:r>
            <a:r>
              <a:rPr sz="1200" b="0">
                <a:solidFill>
                  <a:srgbClr val="E6ECF6"/>
                </a:solidFill>
                <a:latin typeface="Inter"/>
              </a:rPr>
              <a:t>  · workflow-scoped, allowlisted by name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FFC06E"/>
                </a:solidFill>
                <a:latin typeface="Inter"/>
              </a:rPr>
              <a:t>Judge mode</a:t>
            </a:r>
            <a:r>
              <a:rPr sz="1200" b="0">
                <a:solidFill>
                  <a:srgbClr val="E6ECF6"/>
                </a:solidFill>
                <a:latin typeface="Inter"/>
              </a:rPr>
              <a:t> hardcodes </a:t>
            </a:r>
            <a:r>
              <a:rPr sz="1200" b="0">
                <a:solidFill>
                  <a:srgbClr val="6EE79C"/>
                </a:solidFill>
                <a:latin typeface="JetBrains Mono"/>
              </a:rPr>
              <a:t>get_merchant_payment_methods</a:t>
            </a:r>
            <a:r>
              <a:rPr sz="1200" b="0">
                <a:solidFill>
                  <a:srgbClr val="E6ECF6"/>
                </a:solidFill>
                <a:latin typeface="Inter"/>
              </a:rPr>
              <a:t> — judges cannot pass arbitrary tool names.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23760" y="2011680"/>
            <a:ext cx="4389120" cy="4206240"/>
          </a:xfrm>
          <a:prstGeom prst="roundRect">
            <a:avLst>
              <a:gd name="adj" fmla="val 4000"/>
            </a:avLst>
          </a:prstGeom>
          <a:solidFill>
            <a:srgbClr val="1622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2360" y="219456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E93A3A"/>
                </a:solidFill>
                <a:latin typeface="JetBrains Mono"/>
              </a:rPr>
              <a:t>WHY IT MATTERS FOR DOKU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26974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6EE79C"/>
                </a:solidFill>
                <a:latin typeface="Inter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2715768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Native MCP citizen — no custom adapters.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33375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6EE79C"/>
                </a:solidFill>
                <a:latin typeface="Inter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3355848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Sandbox-first; live mode behind explicit env flags.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39776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6EE79C"/>
                </a:solidFill>
                <a:latin typeface="Inter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3995928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Judges run real DOKU sandbox tools, safely.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46177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6EE79C"/>
                </a:solidFill>
                <a:latin typeface="Inter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20" y="4636008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All credentials redacted in every trace.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52578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6EE79C"/>
                </a:solidFill>
                <a:latin typeface="Inter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5276088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Reusable across DOKU merchants, day one.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00">
                <a:solidFill>
                  <a:srgbClr val="8B99B5"/>
                </a:solidFill>
                <a:latin typeface="JetBrains Mono"/>
              </a:rPr>
              <a:t>LEDGERSOUL  ·  AUTONOMOUS PAYMENT OPERATIONS AGENT  ·  DOKU HACKATHON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200">
                <a:solidFill>
                  <a:srgbClr val="8B99B5"/>
                </a:solidFill>
                <a:latin typeface="JetBrains Mono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4DE6F0"/>
                </a:solidFill>
                <a:latin typeface="JetBrains Mono"/>
              </a:rPr>
              <a:t>07  ·  JUDGE MODE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E6ECF6"/>
                </a:solidFill>
                <a:latin typeface="Inter"/>
              </a:rPr>
              <a:t>A locked browser demo built for scoring.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548640" cy="28000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5852160" cy="4206240"/>
          </a:xfrm>
          <a:prstGeom prst="roundRect">
            <a:avLst>
              <a:gd name="adj" fmla="val 4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4DE6F0"/>
                </a:solidFill>
                <a:latin typeface="JetBrains Mono"/>
              </a:rPr>
              <a:t>WHAT JUDGES SEE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862072"/>
            <a:ext cx="54864" cy="274320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6974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4DE6F0"/>
                </a:solidFill>
                <a:latin typeface="JetBrains Mono"/>
              </a:rPr>
              <a:t>/judge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734056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single demo page, token-protected.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456432"/>
            <a:ext cx="54864" cy="274320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918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4DE6F0"/>
                </a:solidFill>
                <a:latin typeface="JetBrains Mono"/>
              </a:rPr>
              <a:t>Run Transaction Lookup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328416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deterministic full-lifecycle trace.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050792"/>
            <a:ext cx="54864" cy="274320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8862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4DE6F0"/>
                </a:solidFill>
                <a:latin typeface="JetBrains Mono"/>
              </a:rPr>
              <a:t>Run DOKU Payment Methods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922776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read-only sandbox MCP workflow.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645152"/>
            <a:ext cx="54864" cy="274320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4805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4DE6F0"/>
                </a:solidFill>
                <a:latin typeface="JetBrains Mono"/>
              </a:rPr>
              <a:t>Inspect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4517136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status · classification · risk · tools · timeline.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5239512"/>
            <a:ext cx="54864" cy="274320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0749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4DE6F0"/>
                </a:solidFill>
                <a:latin typeface="JetBrains Mono"/>
              </a:rPr>
              <a:t>Redacted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5111496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DOKU keys, tokens, headers stripped before display.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0" y="2011680"/>
            <a:ext cx="4937760" cy="4206240"/>
          </a:xfrm>
          <a:prstGeom prst="roundRect">
            <a:avLst>
              <a:gd name="adj" fmla="val 4000"/>
            </a:avLst>
          </a:prstGeom>
          <a:solidFill>
            <a:srgbClr val="1622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21945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E93A3A"/>
                </a:solidFill>
                <a:latin typeface="JetBrains Mono"/>
              </a:rPr>
              <a:t>WHAT JUDGE MODE BLOCKS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0" y="2697480"/>
            <a:ext cx="4389120" cy="384048"/>
          </a:xfrm>
          <a:prstGeom prst="roundRect">
            <a:avLst>
              <a:gd name="adj" fmla="val 20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0" y="275234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93A3A"/>
                </a:solidFill>
                <a:latin typeface="Inter"/>
              </a:rPr>
              <a:t>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276148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6ECF6"/>
                </a:solidFill>
                <a:latin typeface="JetBrains Mono"/>
              </a:rPr>
              <a:t>/agent/run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49440" y="3154680"/>
            <a:ext cx="4389120" cy="384048"/>
          </a:xfrm>
          <a:prstGeom prst="roundRect">
            <a:avLst>
              <a:gd name="adj" fmla="val 20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0" y="320954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93A3A"/>
                </a:solidFill>
                <a:latin typeface="Inter"/>
              </a:rPr>
              <a:t>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321868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6ECF6"/>
                </a:solidFill>
                <a:latin typeface="JetBrains Mono"/>
              </a:rPr>
              <a:t>/state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49440" y="3611880"/>
            <a:ext cx="4389120" cy="384048"/>
          </a:xfrm>
          <a:prstGeom prst="roundRect">
            <a:avLst>
              <a:gd name="adj" fmla="val 20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0" y="366674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93A3A"/>
                </a:solidFill>
                <a:latin typeface="Inter"/>
              </a:rPr>
              <a:t>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367588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6ECF6"/>
                </a:solidFill>
                <a:latin typeface="JetBrains Mono"/>
              </a:rPr>
              <a:t>/traces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949440" y="4069080"/>
            <a:ext cx="4389120" cy="384048"/>
          </a:xfrm>
          <a:prstGeom prst="roundRect">
            <a:avLst>
              <a:gd name="adj" fmla="val 20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20" y="412394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93A3A"/>
                </a:solidFill>
                <a:latin typeface="Inter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413308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6ECF6"/>
                </a:solidFill>
                <a:latin typeface="JetBrains Mono"/>
              </a:rPr>
              <a:t>/doku/mcp/tools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49440" y="4526280"/>
            <a:ext cx="4389120" cy="384048"/>
          </a:xfrm>
          <a:prstGeom prst="roundRect">
            <a:avLst>
              <a:gd name="adj" fmla="val 20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0" y="458114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93A3A"/>
                </a:solidFill>
                <a:latin typeface="Inter"/>
              </a:rPr>
              <a:t>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459028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6ECF6"/>
                </a:solidFill>
                <a:latin typeface="JetBrains Mono"/>
              </a:rPr>
              <a:t>/docs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949440" y="4983480"/>
            <a:ext cx="4389120" cy="384048"/>
          </a:xfrm>
          <a:prstGeom prst="roundRect">
            <a:avLst>
              <a:gd name="adj" fmla="val 20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32320" y="503834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93A3A"/>
                </a:solidFill>
                <a:latin typeface="Inter"/>
              </a:rPr>
              <a:t>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9520" y="504748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6ECF6"/>
                </a:solidFill>
                <a:latin typeface="JetBrains Mono"/>
              </a:rPr>
              <a:t>/redoc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949440" y="5440680"/>
            <a:ext cx="4389120" cy="384048"/>
          </a:xfrm>
          <a:prstGeom prst="roundRect">
            <a:avLst>
              <a:gd name="adj" fmla="val 20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0" y="549554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93A3A"/>
                </a:solidFill>
                <a:latin typeface="Inter"/>
              </a:rPr>
              <a:t>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89520" y="550468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6ECF6"/>
                </a:solidFill>
                <a:latin typeface="JetBrains Mono"/>
              </a:rPr>
              <a:t>/openapi.json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49440" y="57607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00">
                <a:solidFill>
                  <a:srgbClr val="FFC06E"/>
                </a:solidFill>
                <a:latin typeface="JetBrains Mono"/>
              </a:rPr>
              <a:t>JUDGE_ALLOW_SANDBOX_WRITES = false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00">
                <a:solidFill>
                  <a:srgbClr val="8B99B5"/>
                </a:solidFill>
                <a:latin typeface="JetBrains Mono"/>
              </a:rPr>
              <a:t>LEDGERSOUL  ·  AUTONOMOUS PAYMENT OPERATIONS AGENT  ·  DOKU HACKATHON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200">
                <a:solidFill>
                  <a:srgbClr val="8B99B5"/>
                </a:solidFill>
                <a:latin typeface="JetBrains Mono"/>
              </a:rPr>
              <a:t>10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FFC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FFC06E"/>
                </a:solidFill>
                <a:latin typeface="JetBrains Mono"/>
              </a:rPr>
              <a:t>08  ·  GUARDRAILS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E6ECF6"/>
                </a:solidFill>
                <a:latin typeface="Inter"/>
              </a:rPr>
              <a:t>Autonomy with explicit limits.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548640" cy="28000"/>
          </a:xfrm>
          <a:prstGeom prst="rect">
            <a:avLst/>
          </a:prstGeom>
          <a:solidFill>
            <a:srgbClr val="FFC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5440680" cy="1325880"/>
          </a:xfrm>
          <a:prstGeom prst="roundRect">
            <a:avLst>
              <a:gd name="adj" fmla="val 5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54864" cy="1325880"/>
          </a:xfrm>
          <a:prstGeom prst="rect">
            <a:avLst/>
          </a:prstGeom>
          <a:solidFill>
            <a:srgbClr val="FFC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300">
                <a:solidFill>
                  <a:srgbClr val="FFC06E"/>
                </a:solidFill>
                <a:latin typeface="JetBrains Mono"/>
              </a:rPr>
              <a:t>AMOUNT THRESHOLDS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074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MAX_AUTONOMOUS_AMOUNT = 10,000 minor units.
Anything above auto-escalates.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447288"/>
            <a:ext cx="5440680" cy="1325880"/>
          </a:xfrm>
          <a:prstGeom prst="roundRect">
            <a:avLst>
              <a:gd name="adj" fmla="val 5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447288"/>
            <a:ext cx="54864" cy="1325880"/>
          </a:xfrm>
          <a:prstGeom prst="rect">
            <a:avLst/>
          </a:prstGeom>
          <a:solidFill>
            <a:srgbClr val="A9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630168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300">
                <a:solidFill>
                  <a:srgbClr val="A97CFF"/>
                </a:solidFill>
                <a:latin typeface="JetBrains Mono"/>
              </a:rPr>
              <a:t>HUMAN APPROVAL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950208"/>
            <a:ext cx="5074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refund.requested · payment.suspicious · unknown event
→ approval ticket, not action.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882896"/>
            <a:ext cx="5440680" cy="1325880"/>
          </a:xfrm>
          <a:prstGeom prst="roundRect">
            <a:avLst>
              <a:gd name="adj" fmla="val 5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882896"/>
            <a:ext cx="54864" cy="1325880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065776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300">
                <a:solidFill>
                  <a:srgbClr val="4DE6F0"/>
                </a:solidFill>
                <a:latin typeface="JetBrains Mono"/>
              </a:rPr>
              <a:t>IDEMPOTENCY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385816"/>
            <a:ext cx="5074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every event_id logged. Duplicates return
status=duplicate without re-running tools.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2011680"/>
            <a:ext cx="5440680" cy="1325880"/>
          </a:xfrm>
          <a:prstGeom prst="roundRect">
            <a:avLst>
              <a:gd name="adj" fmla="val 5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2011680"/>
            <a:ext cx="54864" cy="1325880"/>
          </a:xfrm>
          <a:prstGeom prst="rect">
            <a:avLst/>
          </a:prstGeom>
          <a:solidFill>
            <a:srgbClr val="6EE7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19456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300">
                <a:solidFill>
                  <a:srgbClr val="6EE79C"/>
                </a:solidFill>
                <a:latin typeface="JetBrains Mono"/>
              </a:rPr>
              <a:t>NO FABRICATION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514600"/>
            <a:ext cx="5074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agent never invents status, link, or audit entry.
Tool outputs recorded as-returned.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3447288"/>
            <a:ext cx="5440680" cy="1325880"/>
          </a:xfrm>
          <a:prstGeom prst="roundRect">
            <a:avLst>
              <a:gd name="adj" fmla="val 5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3447288"/>
            <a:ext cx="54864" cy="1325880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630168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300">
                <a:solidFill>
                  <a:srgbClr val="4DE6F0"/>
                </a:solidFill>
                <a:latin typeface="JetBrains Mono"/>
              </a:rPr>
              <a:t>AUDIT-FIRST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950208"/>
            <a:ext cx="5074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write_audit_log called on every terminal status.
Append-only, indexable.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4882896"/>
            <a:ext cx="5440680" cy="1325880"/>
          </a:xfrm>
          <a:prstGeom prst="roundRect">
            <a:avLst>
              <a:gd name="adj" fmla="val 5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4882896"/>
            <a:ext cx="54864" cy="1325880"/>
          </a:xfrm>
          <a:prstGeom prst="rect">
            <a:avLst/>
          </a:prstGeom>
          <a:solidFill>
            <a:srgbClr val="E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5065776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300">
                <a:solidFill>
                  <a:srgbClr val="E93A3A"/>
                </a:solidFill>
                <a:latin typeface="JetBrains Mono"/>
              </a:rPr>
              <a:t>TOOL CLASSIFICATION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385816"/>
            <a:ext cx="5074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read · draft · write · dangerous.
Dangerous tools require policy clearance.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00">
                <a:solidFill>
                  <a:srgbClr val="8B99B5"/>
                </a:solidFill>
                <a:latin typeface="JetBrains Mono"/>
              </a:rPr>
              <a:t>LEDGERSOUL  ·  AUTONOMOUS PAYMENT OPERATIONS AGENT  ·  DOKU HACKATHON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200">
                <a:solidFill>
                  <a:srgbClr val="8B99B5"/>
                </a:solidFill>
                <a:latin typeface="JetBrains Mono"/>
              </a:rPr>
              <a:t>11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6EE7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6EE79C"/>
                </a:solidFill>
                <a:latin typeface="JetBrains Mono"/>
              </a:rPr>
              <a:t>09  ·  EVALS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E6ECF6"/>
                </a:solidFill>
                <a:latin typeface="Inter"/>
              </a:rPr>
              <a:t>Nine deterministic evals. All passing.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548640" cy="28000"/>
          </a:xfrm>
          <a:prstGeom prst="rect">
            <a:avLst/>
          </a:prstGeom>
          <a:solidFill>
            <a:srgbClr val="6EE7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11064240" cy="4206240"/>
          </a:xfrm>
          <a:prstGeom prst="roundRect">
            <a:avLst>
              <a:gd name="adj" fmla="val 4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00">
                <a:solidFill>
                  <a:srgbClr val="8B99B5"/>
                </a:solidFill>
                <a:latin typeface="JetBrains Mono"/>
              </a:rP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1945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00">
                <a:solidFill>
                  <a:srgbClr val="8B99B5"/>
                </a:solidFill>
                <a:latin typeface="JetBrains Mono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19456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00">
                <a:solidFill>
                  <a:srgbClr val="8B99B5"/>
                </a:solidFill>
                <a:latin typeface="JetBrains Mono"/>
              </a:rPr>
              <a:t>WHAT IT PROVES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21945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00">
                <a:solidFill>
                  <a:srgbClr val="8B99B5"/>
                </a:solidFill>
                <a:latin typeface="JetBrains Mono"/>
              </a:rPr>
              <a:t>STATUS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468880"/>
            <a:ext cx="10607040" cy="5000"/>
          </a:xfrm>
          <a:prstGeom prst="rect">
            <a:avLst/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6060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B99B5"/>
                </a:solidFill>
                <a:latin typeface="JetBrains Mono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6060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6ECF6"/>
                </a:solidFill>
                <a:latin typeface="Inter"/>
              </a:rPr>
              <a:t>Failed Payment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624328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B99B5"/>
                </a:solidFill>
                <a:latin typeface="Inter"/>
              </a:rPr>
              <a:t>plan → tools → verify → audit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0" y="2587752"/>
            <a:ext cx="1000000" cy="240000"/>
          </a:xfrm>
          <a:prstGeom prst="roundRect">
            <a:avLst>
              <a:gd name="adj" fmla="val 50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0" y="2587752"/>
            <a:ext cx="1000000" cy="2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6EE79C"/>
                </a:solidFill>
                <a:latin typeface="JetBrains Mono"/>
              </a:rPr>
              <a:t>  completed 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962656"/>
            <a:ext cx="10881360" cy="384048"/>
          </a:xfrm>
          <a:prstGeom prst="roundRect">
            <a:avLst>
              <a:gd name="adj" fmla="val 10000"/>
            </a:avLst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299923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B99B5"/>
                </a:solidFill>
                <a:latin typeface="JetBrains Mono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99923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6ECF6"/>
                </a:solidFill>
                <a:latin typeface="Inter"/>
              </a:rPr>
              <a:t>High-Value Refund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01752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B99B5"/>
                </a:solidFill>
                <a:latin typeface="Inter"/>
              </a:rPr>
              <a:t>threshold → approval ticket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0" y="2980944"/>
            <a:ext cx="1000000" cy="240000"/>
          </a:xfrm>
          <a:prstGeom prst="roundRect">
            <a:avLst>
              <a:gd name="adj" fmla="val 50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0" y="2980944"/>
            <a:ext cx="1000000" cy="2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C06E"/>
                </a:solidFill>
                <a:latin typeface="JetBrains Mono"/>
              </a:rPr>
              <a:t>  escalated 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392424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B99B5"/>
                </a:solidFill>
                <a:latin typeface="JetBrains Mono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3392424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6ECF6"/>
                </a:solidFill>
                <a:latin typeface="Inter"/>
              </a:rPr>
              <a:t>Duplicate Webhook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3410712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B99B5"/>
                </a:solidFill>
                <a:latin typeface="Inter"/>
              </a:rPr>
              <a:t>idempotency · no replay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0" y="3374136"/>
            <a:ext cx="1000000" cy="240000"/>
          </a:xfrm>
          <a:prstGeom prst="roundRect">
            <a:avLst>
              <a:gd name="adj" fmla="val 50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0" y="3374136"/>
            <a:ext cx="1000000" cy="2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8B99B5"/>
                </a:solidFill>
                <a:latin typeface="JetBrains Mono"/>
              </a:rPr>
              <a:t>  duplicate  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3749040"/>
            <a:ext cx="10881360" cy="384048"/>
          </a:xfrm>
          <a:prstGeom prst="roundRect">
            <a:avLst>
              <a:gd name="adj" fmla="val 10000"/>
            </a:avLst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785616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B99B5"/>
                </a:solidFill>
                <a:latin typeface="JetBrains Mono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3785616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6ECF6"/>
                </a:solidFill>
                <a:latin typeface="Inter"/>
              </a:rPr>
              <a:t>Suspicious Payment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3803904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B99B5"/>
                </a:solidFill>
                <a:latin typeface="Inter"/>
              </a:rPr>
              <a:t>risk → human review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58400" y="3767328"/>
            <a:ext cx="1000000" cy="240000"/>
          </a:xfrm>
          <a:prstGeom prst="roundRect">
            <a:avLst>
              <a:gd name="adj" fmla="val 50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0" y="3767328"/>
            <a:ext cx="1000000" cy="2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C06E"/>
                </a:solidFill>
                <a:latin typeface="JetBrains Mono"/>
              </a:rPr>
              <a:t>  escalated 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417880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B99B5"/>
                </a:solidFill>
                <a:latin typeface="JetBrains Mono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417880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6ECF6"/>
                </a:solidFill>
                <a:latin typeface="Inter"/>
              </a:rPr>
              <a:t>Unknown Event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4197096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B99B5"/>
                </a:solidFill>
                <a:latin typeface="Inter"/>
              </a:rPr>
              <a:t>fallback → escalate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58400" y="4160520"/>
            <a:ext cx="1000000" cy="240000"/>
          </a:xfrm>
          <a:prstGeom prst="roundRect">
            <a:avLst>
              <a:gd name="adj" fmla="val 50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0" y="4160520"/>
            <a:ext cx="1000000" cy="2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C06E"/>
                </a:solidFill>
                <a:latin typeface="JetBrains Mono"/>
              </a:rPr>
              <a:t>  escalated  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4535424"/>
            <a:ext cx="10881360" cy="384048"/>
          </a:xfrm>
          <a:prstGeom prst="roundRect">
            <a:avLst>
              <a:gd name="adj" fmla="val 10000"/>
            </a:avLst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45720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B99B5"/>
                </a:solidFill>
                <a:latin typeface="JetBrains Mono"/>
              </a:rPr>
              <a:t>06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45720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6ECF6"/>
                </a:solidFill>
                <a:latin typeface="Inter"/>
              </a:rPr>
              <a:t>Transaction Lookup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0" y="4590288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B99B5"/>
                </a:solidFill>
                <a:latin typeface="Inter"/>
              </a:rPr>
              <a:t>DOKU sandbox reconciliation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058400" y="4553712"/>
            <a:ext cx="1000000" cy="240000"/>
          </a:xfrm>
          <a:prstGeom prst="roundRect">
            <a:avLst>
              <a:gd name="adj" fmla="val 50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0" y="4553712"/>
            <a:ext cx="1000000" cy="2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6EE79C"/>
                </a:solidFill>
                <a:latin typeface="JetBrains Mono"/>
              </a:rPr>
              <a:t>  completed 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496519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B99B5"/>
                </a:solidFill>
                <a:latin typeface="JetBrains Mono"/>
              </a:rPr>
              <a:t>07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80160" y="496519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6ECF6"/>
                </a:solidFill>
                <a:latin typeface="Inter"/>
              </a:rPr>
              <a:t>Judge Route Lockdown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0" y="49834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B99B5"/>
                </a:solidFill>
                <a:latin typeface="Inter"/>
              </a:rPr>
              <a:t>ops endpoints → 404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058400" y="4946904"/>
            <a:ext cx="790000" cy="240000"/>
          </a:xfrm>
          <a:prstGeom prst="roundRect">
            <a:avLst>
              <a:gd name="adj" fmla="val 50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0" y="4946904"/>
            <a:ext cx="790000" cy="2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4DE6F0"/>
                </a:solidFill>
                <a:latin typeface="JetBrains Mono"/>
              </a:rPr>
              <a:t>  locked  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0080" y="5321808"/>
            <a:ext cx="10881360" cy="384048"/>
          </a:xfrm>
          <a:prstGeom prst="roundRect">
            <a:avLst>
              <a:gd name="adj" fmla="val 10000"/>
            </a:avLst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" y="5358384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B99B5"/>
                </a:solidFill>
                <a:latin typeface="JetBrains Mono"/>
              </a:rPr>
              <a:t>08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80160" y="5358384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6ECF6"/>
                </a:solidFill>
                <a:latin typeface="Inter"/>
              </a:rPr>
              <a:t>Judge Transaction Lookup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0" y="5376672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B99B5"/>
                </a:solidFill>
                <a:latin typeface="Inter"/>
              </a:rPr>
              <a:t>deterministic full lifecycle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058400" y="5340096"/>
            <a:ext cx="1000000" cy="240000"/>
          </a:xfrm>
          <a:prstGeom prst="roundRect">
            <a:avLst>
              <a:gd name="adj" fmla="val 50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058400" y="5340096"/>
            <a:ext cx="1000000" cy="2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6EE79C"/>
                </a:solidFill>
                <a:latin typeface="JetBrains Mono"/>
              </a:rPr>
              <a:t>  completed 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" y="5751576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B99B5"/>
                </a:solidFill>
                <a:latin typeface="JetBrains Mono"/>
              </a:rPr>
              <a:t>09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80160" y="5751576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6ECF6"/>
                </a:solidFill>
                <a:latin typeface="Inter"/>
              </a:rPr>
              <a:t>Judge DOKU Payment Methods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43600" y="5769864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B99B5"/>
                </a:solidFill>
                <a:latin typeface="Inter"/>
              </a:rPr>
              <a:t>MCP read-only · redacted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058400" y="5733288"/>
            <a:ext cx="1000000" cy="240000"/>
          </a:xfrm>
          <a:prstGeom prst="roundRect">
            <a:avLst>
              <a:gd name="adj" fmla="val 50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058400" y="5733288"/>
            <a:ext cx="1000000" cy="2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6EE79C"/>
                </a:solidFill>
                <a:latin typeface="JetBrains Mono"/>
              </a:rPr>
              <a:t>  completed  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00">
                <a:solidFill>
                  <a:srgbClr val="8B99B5"/>
                </a:solidFill>
                <a:latin typeface="JetBrains Mono"/>
              </a:rPr>
              <a:t>LEDGERSOUL  ·  AUTONOMOUS PAYMENT OPERATIONS AGENT  ·  DOKU HACKATHON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200">
                <a:solidFill>
                  <a:srgbClr val="8B99B5"/>
                </a:solidFill>
                <a:latin typeface="JetBrains Mono"/>
              </a:rPr>
              <a:t>12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4DE6F0"/>
                </a:solidFill>
                <a:latin typeface="JetBrains Mono"/>
              </a:rPr>
              <a:t>10  · 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E6ECF6"/>
                </a:solidFill>
                <a:latin typeface="Inter"/>
              </a:rPr>
              <a:t>From hackathon MVP to merchant-grade agent.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548640" cy="28000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3657600" cy="4206240"/>
          </a:xfrm>
          <a:prstGeom prst="roundRect">
            <a:avLst>
              <a:gd name="adj" fmla="val 4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3657600" cy="54864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40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400">
                <a:solidFill>
                  <a:srgbClr val="4DE6F0"/>
                </a:solidFill>
                <a:latin typeface="JetBrains Mono"/>
              </a:rPr>
              <a:t>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1460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6ECF6"/>
                </a:solidFill>
                <a:latin typeface="Inter"/>
              </a:rPr>
              <a:t>v0.1  ·  HACKATHON MVP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971800"/>
            <a:ext cx="548640" cy="8000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3319272"/>
            <a:ext cx="54864" cy="54864"/>
          </a:xfrm>
          <a:prstGeom prst="roundRect">
            <a:avLst>
              <a:gd name="adj" fmla="val 50000"/>
            </a:avLst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15468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Deterministic 12-stage lifecycle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867912"/>
            <a:ext cx="54864" cy="54864"/>
          </a:xfrm>
          <a:prstGeom prst="roundRect">
            <a:avLst>
              <a:gd name="adj" fmla="val 50000"/>
            </a:avLst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7033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DOKU MCP sandbox integration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16552"/>
            <a:ext cx="54864" cy="54864"/>
          </a:xfrm>
          <a:prstGeom prst="roundRect">
            <a:avLst>
              <a:gd name="adj" fmla="val 50000"/>
            </a:avLst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25196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Judge mode with redacted traces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965192"/>
            <a:ext cx="54864" cy="54864"/>
          </a:xfrm>
          <a:prstGeom prst="roundRect">
            <a:avLst>
              <a:gd name="adj" fmla="val 50000"/>
            </a:avLst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8006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9 passing evals · file-backed state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2011680"/>
            <a:ext cx="3657600" cy="4206240"/>
          </a:xfrm>
          <a:prstGeom prst="roundRect">
            <a:avLst>
              <a:gd name="adj" fmla="val 4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0" y="2011680"/>
            <a:ext cx="3657600" cy="54864"/>
          </a:xfrm>
          <a:prstGeom prst="rect">
            <a:avLst/>
          </a:prstGeom>
          <a:solidFill>
            <a:srgbClr val="A9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2240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400">
                <a:solidFill>
                  <a:srgbClr val="A97CFF"/>
                </a:solidFill>
                <a:latin typeface="JetBrains Mono"/>
              </a:rPr>
              <a:t>NEXT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251460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6ECF6"/>
                </a:solidFill>
                <a:latin typeface="Inter"/>
              </a:rPr>
              <a:t>v0.2  ·  PILOT WITH 1 MERCHANT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2971800"/>
            <a:ext cx="548640" cy="8000"/>
          </a:xfrm>
          <a:prstGeom prst="rect">
            <a:avLst/>
          </a:prstGeom>
          <a:solidFill>
            <a:srgbClr val="A9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663440" y="3319272"/>
            <a:ext cx="54864" cy="54864"/>
          </a:xfrm>
          <a:prstGeom prst="roundRect">
            <a:avLst>
              <a:gd name="adj" fmla="val 50000"/>
            </a:avLst>
          </a:prstGeom>
          <a:solidFill>
            <a:srgbClr val="A9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315468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Live mode behind explicit flags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63440" y="3867912"/>
            <a:ext cx="54864" cy="54864"/>
          </a:xfrm>
          <a:prstGeom prst="roundRect">
            <a:avLst>
              <a:gd name="adj" fmla="val 50000"/>
            </a:avLst>
          </a:prstGeom>
          <a:solidFill>
            <a:srgbClr val="A9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37033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Webhook signature validation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63440" y="4416552"/>
            <a:ext cx="54864" cy="54864"/>
          </a:xfrm>
          <a:prstGeom prst="roundRect">
            <a:avLst>
              <a:gd name="adj" fmla="val 50000"/>
            </a:avLst>
          </a:prstGeom>
          <a:solidFill>
            <a:srgbClr val="A9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0" y="425196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SQLite state · richer dashboards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63440" y="4965192"/>
            <a:ext cx="54864" cy="54864"/>
          </a:xfrm>
          <a:prstGeom prst="roundRect">
            <a:avLst>
              <a:gd name="adj" fmla="val 50000"/>
            </a:avLst>
          </a:prstGeom>
          <a:solidFill>
            <a:srgbClr val="A9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48006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LLM-assisted planner (optional)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0" y="2011680"/>
            <a:ext cx="3657600" cy="4206240"/>
          </a:xfrm>
          <a:prstGeom prst="roundRect">
            <a:avLst>
              <a:gd name="adj" fmla="val 4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29600" y="2011680"/>
            <a:ext cx="3657600" cy="54864"/>
          </a:xfrm>
          <a:prstGeom prst="rect">
            <a:avLst/>
          </a:prstGeom>
          <a:solidFill>
            <a:srgbClr val="6EE7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03920" y="2240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400">
                <a:solidFill>
                  <a:srgbClr val="6EE79C"/>
                </a:solidFill>
                <a:latin typeface="JetBrains Mono"/>
              </a:rPr>
              <a:t>LATER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251460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6ECF6"/>
                </a:solidFill>
                <a:latin typeface="Inter"/>
              </a:rPr>
              <a:t>v1.0  ·  MERCHANT-GRADE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03920" y="2971800"/>
            <a:ext cx="548640" cy="8000"/>
          </a:xfrm>
          <a:prstGeom prst="rect">
            <a:avLst/>
          </a:prstGeom>
          <a:solidFill>
            <a:srgbClr val="6EE7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503920" y="3319272"/>
            <a:ext cx="54864" cy="54864"/>
          </a:xfrm>
          <a:prstGeom prst="roundRect">
            <a:avLst>
              <a:gd name="adj" fmla="val 50000"/>
            </a:avLst>
          </a:prstGeom>
          <a:solidFill>
            <a:srgbClr val="6EE7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0" y="315468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Multi-merchant tenancy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03920" y="3867912"/>
            <a:ext cx="54864" cy="54864"/>
          </a:xfrm>
          <a:prstGeom prst="roundRect">
            <a:avLst>
              <a:gd name="adj" fmla="val 50000"/>
            </a:avLst>
          </a:prstGeom>
          <a:solidFill>
            <a:srgbClr val="6EE7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0" y="37033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Approvals on Slack / Telegram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03920" y="4416552"/>
            <a:ext cx="54864" cy="54864"/>
          </a:xfrm>
          <a:prstGeom prst="roundRect">
            <a:avLst>
              <a:gd name="adj" fmla="val 50000"/>
            </a:avLst>
          </a:prstGeom>
          <a:solidFill>
            <a:srgbClr val="6EE7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0" y="425196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Refund + dispute workflows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503920" y="4965192"/>
            <a:ext cx="54864" cy="54864"/>
          </a:xfrm>
          <a:prstGeom prst="roundRect">
            <a:avLst>
              <a:gd name="adj" fmla="val 50000"/>
            </a:avLst>
          </a:prstGeom>
          <a:solidFill>
            <a:srgbClr val="6EE7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86800" y="48006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Policy editor for ops teams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00">
                <a:solidFill>
                  <a:srgbClr val="8B99B5"/>
                </a:solidFill>
                <a:latin typeface="JetBrains Mono"/>
              </a:rPr>
              <a:t>LEDGERSOUL  ·  AUTONOMOUS PAYMENT OPERATIONS AGENT  ·  DOKU HACKATHON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200">
                <a:solidFill>
                  <a:srgbClr val="8B99B5"/>
                </a:solidFill>
                <a:latin typeface="JetBrains Mono"/>
              </a:rPr>
              <a:t>13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A9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73152" cy="6858000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400">
                <a:solidFill>
                  <a:srgbClr val="4DE6F0"/>
                </a:solidFill>
                <a:latin typeface="JetBrains Mono"/>
              </a:rPr>
              <a:t>12  ·  CLOSE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80160"/>
            <a:ext cx="105156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800" b="1">
                <a:solidFill>
                  <a:srgbClr val="E6ECF6"/>
                </a:solidFill>
                <a:latin typeface="Inter"/>
              </a:rPr>
              <a:t>Make every payment event </a:t>
            </a:r>
            <a:r>
              <a:rPr sz="5800" b="1">
                <a:solidFill>
                  <a:srgbClr val="4DE6F0"/>
                </a:solidFill>
                <a:latin typeface="Inter"/>
              </a:rPr>
              <a:t>end well.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8B99B5"/>
                </a:solidFill>
                <a:latin typeface="Inter"/>
              </a:rPr>
              <a:t>LedgerSoul gives DOKU merchants an autonomous operator that's deterministic, auditable, and safe by default — on top of the DOKU MCP Server they already have.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846320"/>
            <a:ext cx="3657600" cy="1325880"/>
          </a:xfrm>
          <a:prstGeom prst="roundRect">
            <a:avLst>
              <a:gd name="adj" fmla="val 6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4846320"/>
            <a:ext cx="3657600" cy="54864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0292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300">
                <a:solidFill>
                  <a:srgbClr val="4DE6F0"/>
                </a:solidFill>
                <a:latin typeface="JetBrains Mono"/>
              </a:rPr>
              <a:t>PARTNER WITH 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349240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Co-design merchant pilots on the DOKU MCP server.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4846320"/>
            <a:ext cx="3657600" cy="1325880"/>
          </a:xfrm>
          <a:prstGeom prst="roundRect">
            <a:avLst>
              <a:gd name="adj" fmla="val 6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4846320"/>
            <a:ext cx="3657600" cy="54864"/>
          </a:xfrm>
          <a:prstGeom prst="rect">
            <a:avLst/>
          </a:prstGeom>
          <a:solidFill>
            <a:srgbClr val="A9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50292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300">
                <a:solidFill>
                  <a:srgbClr val="A97CFF"/>
                </a:solidFill>
                <a:latin typeface="JetBrains Mono"/>
              </a:rPr>
              <a:t>OPEN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5349240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Expand sandbox tool access for write-class workflows.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4846320"/>
            <a:ext cx="3657600" cy="1325880"/>
          </a:xfrm>
          <a:prstGeom prst="roundRect">
            <a:avLst>
              <a:gd name="adj" fmla="val 6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4846320"/>
            <a:ext cx="3657600" cy="54864"/>
          </a:xfrm>
          <a:prstGeom prst="rect">
            <a:avLst/>
          </a:prstGeom>
          <a:solidFill>
            <a:srgbClr val="6EE7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50292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300">
                <a:solidFill>
                  <a:srgbClr val="6EE79C"/>
                </a:solidFill>
                <a:latin typeface="JetBrains Mono"/>
              </a:rPr>
              <a:t>AMPLIFY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5349240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Bring LedgerSoul into DOKU's merchant onboarding.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400800"/>
            <a:ext cx="11064240" cy="8000"/>
          </a:xfrm>
          <a:prstGeom prst="rect">
            <a:avLst/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4922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spc="400">
                <a:solidFill>
                  <a:srgbClr val="8B99B5"/>
                </a:solidFill>
                <a:latin typeface="JetBrains Mono"/>
              </a:rPr>
              <a:t>LEDGERSOUL  ·  AdrianSS · DOKU HACKATHON 2026  ·  THANK YOU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DE6F0"/>
                </a:solidFill>
                <a:latin typeface="JetBrains Mono"/>
              </a:rPr>
              <a:t>07a  ·  WHERE WE 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8ECF6"/>
                </a:solidFill>
                <a:latin typeface="Inter"/>
              </a:rPr>
              <a:t>We are not a payment gateway,
and not a fraud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AA6C2"/>
                </a:solidFill>
                <a:latin typeface="Inter"/>
              </a:rPr>
              <a:t>LedgerSoul lives in the operational layer above DOKU — after the bank decided, after the gateway settled.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9AA6C2"/>
                </a:solidFill>
                <a:latin typeface="JetBrains Mono"/>
              </a:rPr>
              <a:t>LEDGERSOUL  ·  AUTONOMOUS PAYMENT OPERATIONS AGENT  ·  DOKU HACKATHON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9AA6C2"/>
                </a:solidFill>
                <a:latin typeface="JetBrains Mono"/>
              </a:rPr>
              <a:t>08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11064240" cy="1051560"/>
          </a:xfrm>
          <a:prstGeom prst="roundRect">
            <a:avLst>
              <a:gd name="adj" fmla="val 10000"/>
            </a:avLst>
          </a:prstGeom>
          <a:solidFill>
            <a:srgbClr val="182440"/>
          </a:solidFill>
          <a:ln w="9525">
            <a:solidFill>
              <a:srgbClr val="22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331720"/>
            <a:ext cx="91440" cy="1051560"/>
          </a:xfrm>
          <a:prstGeom prst="rect">
            <a:avLst/>
          </a:prstGeom>
          <a:solidFill>
            <a:srgbClr val="F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468879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8A8A"/>
                </a:solidFill>
                <a:latin typeface="JetBrains Mono"/>
              </a:rPr>
              <a:t>LAYER 1  ·  PAYMENT RAIL &amp; FRAUD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697479"/>
            <a:ext cx="6858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8ECF6"/>
                </a:solidFill>
                <a:latin typeface="Inter"/>
              </a:rPr>
              <a:t>Bank, network, and acquirer-level controls.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26663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6C2"/>
                </a:solidFill>
                <a:latin typeface="Inter"/>
              </a:rPr>
              <a:t>3DS · velocity rules · Visa Risk · Mastercard DI · AML / sanctions screening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18320" y="2715768"/>
            <a:ext cx="2011680" cy="329184"/>
          </a:xfrm>
          <a:prstGeom prst="roundRect">
            <a:avLst>
              <a:gd name="adj" fmla="val 10000"/>
            </a:avLst>
          </a:prstGeom>
          <a:solidFill>
            <a:srgbClr val="070B14"/>
          </a:solidFill>
          <a:ln w="9525">
            <a:solidFill>
              <a:srgbClr val="FF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2715768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FF8A8A"/>
                </a:solidFill>
                <a:latin typeface="JetBrains Mono"/>
              </a:rPr>
              <a:t>OWNED BY  BANKS · NETWORKS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520439"/>
            <a:ext cx="11064240" cy="1051560"/>
          </a:xfrm>
          <a:prstGeom prst="roundRect">
            <a:avLst>
              <a:gd name="adj" fmla="val 10000"/>
            </a:avLst>
          </a:prstGeom>
          <a:solidFill>
            <a:srgbClr val="182440"/>
          </a:solidFill>
          <a:ln w="9525">
            <a:solidFill>
              <a:srgbClr val="22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520439"/>
            <a:ext cx="91440" cy="1051560"/>
          </a:xfrm>
          <a:prstGeom prst="rect">
            <a:avLst/>
          </a:prstGeom>
          <a:solidFill>
            <a:srgbClr val="A9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657599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97CFF"/>
                </a:solidFill>
                <a:latin typeface="JetBrains Mono"/>
              </a:rPr>
              <a:t>LAYER 2  ·  PAYMENT 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886200"/>
            <a:ext cx="6858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8ECF6"/>
                </a:solidFill>
                <a:latin typeface="Inter"/>
              </a:rPr>
              <a:t>Gateway, checkout, settlement, dashboard.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215383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6C2"/>
                </a:solidFill>
                <a:latin typeface="Inter"/>
              </a:rPr>
              <a:t>DOKU Checkout · QRIS · Virtual Account · Payment Link · Merchant Dashboard · DOKU MCP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18320" y="3904487"/>
            <a:ext cx="2011680" cy="329184"/>
          </a:xfrm>
          <a:prstGeom prst="roundRect">
            <a:avLst>
              <a:gd name="adj" fmla="val 10000"/>
            </a:avLst>
          </a:prstGeom>
          <a:solidFill>
            <a:srgbClr val="070B14"/>
          </a:solidFill>
          <a:ln w="9525">
            <a:solidFill>
              <a:srgbClr val="A9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3904487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A97CFF"/>
                </a:solidFill>
                <a:latin typeface="JetBrains Mono"/>
              </a:rPr>
              <a:t>OWNED BY  DOKU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09159"/>
            <a:ext cx="11064240" cy="1051560"/>
          </a:xfrm>
          <a:prstGeom prst="roundRect">
            <a:avLst>
              <a:gd name="adj" fmla="val 10000"/>
            </a:avLst>
          </a:prstGeom>
          <a:solidFill>
            <a:srgbClr val="182440"/>
          </a:solidFill>
          <a:ln w="9525">
            <a:solidFill>
              <a:srgbClr val="22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709159"/>
            <a:ext cx="91440" cy="1051560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846320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DE6F0"/>
                </a:solidFill>
                <a:latin typeface="JetBrains Mono"/>
              </a:rPr>
              <a:t>LAYER 3  ·  PAYMENT OPS  (US)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074920"/>
            <a:ext cx="6858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8ECF6"/>
                </a:solidFill>
                <a:latin typeface="Inter"/>
              </a:rPr>
              <a:t>What happens after the event lands.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404103"/>
            <a:ext cx="7772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AA6C2"/>
                </a:solidFill>
                <a:latin typeface="Inter"/>
              </a:rPr>
              <a:t>Reconciliation · failed-payment recovery · refund triage · escalation · audit trail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18320" y="5093207"/>
            <a:ext cx="2011680" cy="329184"/>
          </a:xfrm>
          <a:prstGeom prst="roundRect">
            <a:avLst>
              <a:gd name="adj" fmla="val 10000"/>
            </a:avLst>
          </a:prstGeom>
          <a:solidFill>
            <a:srgbClr val="070B14"/>
          </a:solidFill>
          <a:ln w="9525">
            <a:solidFill>
              <a:srgbClr val="4D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0" y="5093207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4DE6F0"/>
                </a:solidFill>
                <a:latin typeface="JetBrains Mono"/>
              </a:rPr>
              <a:t>OWNED BY  LEDGERSOUL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852160"/>
            <a:ext cx="11064240" cy="457200"/>
          </a:xfrm>
          <a:prstGeom prst="roundRect">
            <a:avLst>
              <a:gd name="adj" fmla="val 10000"/>
            </a:avLst>
          </a:prstGeom>
          <a:solidFill>
            <a:srgbClr val="182440"/>
          </a:solidFill>
          <a:ln w="9525">
            <a:solidFill>
              <a:srgbClr val="22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8521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69E6A3"/>
                </a:solidFill>
                <a:latin typeface="Inter"/>
              </a:rPr>
              <a:t>We complement fraud detection. We extend the DOKU dashboard. We don't compete with either.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DE6F0"/>
                </a:solidFill>
                <a:latin typeface="JetBrains Mono"/>
              </a:rPr>
              <a:t>07b  ·  WHY LEDGERSOUL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8ECF6"/>
                </a:solidFill>
                <a:latin typeface="Inter"/>
              </a:rPr>
              <a:t>Why not just the DOKU dashboard
or a Zapier workflow?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AA6C2"/>
                </a:solidFill>
                <a:latin typeface="Inter"/>
              </a:rPr>
              <a:t>The dashboard is manual. Zapier is brittle glue. LedgerSoul is an auditable autonomous operator.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9AA6C2"/>
                </a:solidFill>
                <a:latin typeface="JetBrains Mono"/>
              </a:rPr>
              <a:t>LEDGERSOUL  ·  AUTONOMOUS PAYMENT OPERATIONS AGENT  ·  DOKU HACKATHON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9AA6C2"/>
                </a:solidFill>
                <a:latin typeface="JetBrains Mono"/>
              </a:rPr>
              <a:t>09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59" y="2331720"/>
            <a:ext cx="3017520" cy="3035808"/>
          </a:xfrm>
          <a:prstGeom prst="roundRect">
            <a:avLst>
              <a:gd name="adj" fmla="val 10000"/>
            </a:avLst>
          </a:prstGeom>
          <a:solidFill>
            <a:srgbClr val="101B33"/>
          </a:solidFill>
          <a:ln w="9525">
            <a:solidFill>
              <a:srgbClr val="4D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331720"/>
            <a:ext cx="8046720" cy="402336"/>
          </a:xfrm>
          <a:prstGeom prst="roundRect">
            <a:avLst>
              <a:gd name="adj" fmla="val 10000"/>
            </a:avLst>
          </a:prstGeom>
          <a:solidFill>
            <a:srgbClr val="182440"/>
          </a:solidFill>
          <a:ln w="9525">
            <a:solidFill>
              <a:srgbClr val="22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31720"/>
            <a:ext cx="25603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9AA6C2"/>
                </a:solidFill>
                <a:latin typeface="JetBrains Mono"/>
              </a:rPr>
              <a:t>CAPABILITY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331720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9AA6C2"/>
                </a:solidFill>
                <a:latin typeface="JetBrains Mono"/>
              </a:rPr>
              <a:t>DOKU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331720"/>
            <a:ext cx="21945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9AA6C2"/>
                </a:solidFill>
                <a:latin typeface="JetBrains Mono"/>
              </a:rPr>
              <a:t>ZAPIER / N8N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39" y="2331720"/>
            <a:ext cx="265176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4DE6F0"/>
                </a:solidFill>
                <a:latin typeface="JetBrains Mono"/>
              </a:rPr>
              <a:t>LEDGERSOUL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734056"/>
            <a:ext cx="8046720" cy="329184"/>
          </a:xfrm>
          <a:prstGeom prst="rect">
            <a:avLst/>
          </a:prstGeom>
          <a:solidFill>
            <a:srgbClr val="0D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734056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E8ECF6"/>
                </a:solidFill>
                <a:latin typeface="Inter"/>
              </a:rPr>
              <a:t>Triggered by events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734056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AA6C2"/>
                </a:solidFill>
                <a:latin typeface="Inter"/>
              </a:rPr>
              <a:t>human clicks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734056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AA6C2"/>
                </a:solidFill>
                <a:latin typeface="Inter"/>
              </a:rPr>
              <a:t>single trigger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39" y="2734056"/>
            <a:ext cx="2651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4DE6F0"/>
                </a:solidFill>
                <a:latin typeface="Inter"/>
              </a:rPr>
              <a:t>any payment event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063239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E8ECF6"/>
                </a:solidFill>
                <a:latin typeface="Inter"/>
              </a:rPr>
              <a:t>Decision making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063239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AA6C2"/>
                </a:solidFill>
                <a:latin typeface="Inter"/>
              </a:rPr>
              <a:t>human judgement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063239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AA6C2"/>
                </a:solidFill>
                <a:latin typeface="Inter"/>
              </a:rPr>
              <a:t>if/then rules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39" y="3063239"/>
            <a:ext cx="2651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4DE6F0"/>
                </a:solidFill>
                <a:latin typeface="Inter"/>
              </a:rPr>
              <a:t>planner + policy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392424"/>
            <a:ext cx="8046720" cy="329184"/>
          </a:xfrm>
          <a:prstGeom prst="rect">
            <a:avLst/>
          </a:prstGeom>
          <a:solidFill>
            <a:srgbClr val="0D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392424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E8ECF6"/>
                </a:solidFill>
                <a:latin typeface="Inter"/>
              </a:rPr>
              <a:t>Verifies tool results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3392424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AA6C2"/>
                </a:solidFill>
                <a:latin typeface="Inter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392424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AA6C2"/>
                </a:solidFill>
                <a:latin typeface="Inter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39" y="3392424"/>
            <a:ext cx="2651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4DE6F0"/>
                </a:solidFill>
                <a:latin typeface="Inter"/>
              </a:rPr>
              <a:t>yes, every run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721608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E8ECF6"/>
                </a:solidFill>
                <a:latin typeface="Inter"/>
              </a:rPr>
              <a:t>Idempotency on duplicates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3721608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AA6C2"/>
                </a:solidFill>
                <a:latin typeface="Inter"/>
              </a:rPr>
              <a:t>manual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3721608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AA6C2"/>
                </a:solidFill>
                <a:latin typeface="Inter"/>
              </a:rPr>
              <a:t>fragile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39" y="3721608"/>
            <a:ext cx="2651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4DE6F0"/>
                </a:solidFill>
                <a:latin typeface="Inter"/>
              </a:rPr>
              <a:t>deterministic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050791"/>
            <a:ext cx="8046720" cy="329184"/>
          </a:xfrm>
          <a:prstGeom prst="rect">
            <a:avLst/>
          </a:prstGeom>
          <a:solidFill>
            <a:srgbClr val="0D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050791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E8ECF6"/>
                </a:solidFill>
                <a:latin typeface="Inter"/>
              </a:rPr>
              <a:t>Human-approval thresholds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4050791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AA6C2"/>
                </a:solidFill>
                <a:latin typeface="Inter"/>
              </a:rPr>
              <a:t>manual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4050791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AA6C2"/>
                </a:solidFill>
                <a:latin typeface="Inter"/>
              </a:rPr>
              <a:t>custom code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39" y="4050791"/>
            <a:ext cx="2651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4DE6F0"/>
                </a:solidFill>
                <a:latin typeface="Inter"/>
              </a:rPr>
              <a:t>built-in policy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4379975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E8ECF6"/>
                </a:solidFill>
                <a:latin typeface="Inter"/>
              </a:rPr>
              <a:t>Audit trace per run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0" y="4379975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AA6C2"/>
                </a:solidFill>
                <a:latin typeface="Inter"/>
              </a:rPr>
              <a:t>partial logs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4379975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AA6C2"/>
                </a:solidFill>
                <a:latin typeface="Inter"/>
              </a:rPr>
              <a:t>run history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39" y="4379975"/>
            <a:ext cx="2651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4DE6F0"/>
                </a:solidFill>
                <a:latin typeface="Inter"/>
              </a:rPr>
              <a:t>JSON trace + audit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709160"/>
            <a:ext cx="8046720" cy="329184"/>
          </a:xfrm>
          <a:prstGeom prst="rect">
            <a:avLst/>
          </a:prstGeom>
          <a:solidFill>
            <a:srgbClr val="0D14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4709160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E8ECF6"/>
                </a:solidFill>
                <a:latin typeface="Inter"/>
              </a:rPr>
              <a:t>Identity &amp; contract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4709160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AA6C2"/>
                </a:solidFill>
                <a:latin typeface="Inter"/>
              </a:rP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4709160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AA6C2"/>
                </a:solidFill>
                <a:latin typeface="Inter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78239" y="4709160"/>
            <a:ext cx="2651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4DE6F0"/>
                </a:solidFill>
                <a:latin typeface="Inter"/>
              </a:rPr>
              <a:t>soul.md + agent.md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5038344"/>
            <a:ext cx="25603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E8ECF6"/>
                </a:solidFill>
                <a:latin typeface="Inter"/>
              </a:rPr>
              <a:t>Operates 24/7 unattended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0" y="5038344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AA6C2"/>
                </a:solidFill>
                <a:latin typeface="Inter"/>
              </a:rPr>
              <a:t>no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0" y="5038344"/>
            <a:ext cx="2194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AA6C2"/>
                </a:solidFill>
                <a:latin typeface="Inter"/>
              </a:rPr>
              <a:t>yes (brittle)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78239" y="5038344"/>
            <a:ext cx="26517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4DE6F0"/>
                </a:solidFill>
                <a:latin typeface="Inter"/>
              </a:rPr>
              <a:t>yes (deterministic)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48640" y="5852160"/>
            <a:ext cx="11064240" cy="457200"/>
          </a:xfrm>
          <a:prstGeom prst="roundRect">
            <a:avLst>
              <a:gd name="adj" fmla="val 10000"/>
            </a:avLst>
          </a:prstGeom>
          <a:solidFill>
            <a:srgbClr val="182440"/>
          </a:solidFill>
          <a:ln w="9525">
            <a:solidFill>
              <a:srgbClr val="22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8680" y="5897880"/>
            <a:ext cx="10424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4DE6F0"/>
                </a:solidFill>
                <a:latin typeface="JetBrains Mono"/>
              </a:rPr>
              <a:t>PAIN POINTS WE SOLVE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" y="6053328"/>
            <a:ext cx="10424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8ECF6"/>
                </a:solidFill>
                <a:latin typeface="Inter"/>
              </a:rPr>
              <a:t>Silent failed payments  ·  inconsistent triage  ·  unauditable refunds  ·  duplicate webhooks  ·  ops staff stuck firefighting in tabs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